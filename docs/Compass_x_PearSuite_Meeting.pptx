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09160" y="1645920"/>
            <a:ext cx="822960" cy="822960"/>
          </a:xfrm>
          <a:prstGeom prst="roundRect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9160" y="17190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719072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Calibri"/>
              </a:defRPr>
            </a:pPr>
            <a:r>
              <a:t>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82296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190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Compass × Pear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Integration Discovery — Technical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STRATEGY &amp;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What's Pear Suite's vision for the CHW ecosystem,</a:t>
            </a:r>
            <a:br/>
            <a:r>
              <a:t>and where do you see the biggest gaps today?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Compass fills the session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&amp; field workflow gap for CHWs.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Need to understand where Pear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sees unmet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3200400" cy="109728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6732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B6A"/>
                </a:solidFill>
                <a:latin typeface="Calibri"/>
              </a:defRPr>
            </a:pPr>
            <a:r>
              <a:t>OUR 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4E3B"/>
                </a:solidFill>
                <a:latin typeface="Calibri"/>
              </a:defRPr>
            </a:pPr>
            <a:r>
              <a:t>Pear Suite owns billing infrastructure.</a:t>
            </a:r>
            <a:br/>
            <a:r>
              <a:t>Compass owns the CHW experience.</a:t>
            </a:r>
            <a:br/>
            <a:r>
              <a:t>Together: field visit → paid claim.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011680"/>
            <a:ext cx="3474720" cy="3657600"/>
          </a:xfrm>
          <a:prstGeom prst="ellipse">
            <a:avLst/>
          </a:prstGeom>
          <a:solidFill>
            <a:srgbClr val="ECFDF5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0" y="2011680"/>
            <a:ext cx="3474720" cy="3657600"/>
          </a:xfrm>
          <a:prstGeom prst="ellipse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Session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CHW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291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Mobile-first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566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Field data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2400E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Claims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Clearinghouse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91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EHR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66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Medi-Cal billing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Overlap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CHW encounter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03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data exchange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5943600"/>
            <a:ext cx="2743200" cy="365760"/>
          </a:xfrm>
          <a:prstGeom prst="roundRect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Field visit → Paid claim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HOW COMPASS WORKS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Compass Session Documentation Flow — and Where Pear Suite 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6949440" cy="493776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COMPASS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0116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286000"/>
            <a:ext cx="274320" cy="27432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Start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CHW opens app</a:t>
            </a:r>
            <a:br/>
            <a:r>
              <a:t>Selects or enrolls member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2514600"/>
            <a:ext cx="182880" cy="228600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194560"/>
            <a:ext cx="20116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0" y="2286000"/>
            <a:ext cx="274320" cy="27432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Member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5786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Verify Medi-Cal ID</a:t>
            </a:r>
            <a:br/>
            <a:r>
              <a:t>Confirm eligibility &amp; plan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92040" y="2514600"/>
            <a:ext cx="182880" cy="228600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194560"/>
            <a:ext cx="20116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2080" y="2286000"/>
            <a:ext cx="274320" cy="27432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26771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Service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5786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Session type &amp; location</a:t>
            </a:r>
            <a:br/>
            <a:r>
              <a:t>Date, start time, duration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83280"/>
            <a:ext cx="201168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474720"/>
            <a:ext cx="274320" cy="27432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4564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Data 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6732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Member ID + demographics</a:t>
            </a:r>
            <a:br/>
            <a:r>
              <a:t>Service type + duration</a:t>
            </a:r>
            <a:br/>
            <a:r>
              <a:t>Session notes + referrals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2606040" y="3749040"/>
            <a:ext cx="201168" cy="228600"/>
          </a:xfrm>
          <a:prstGeom prst="lef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34640" y="3383280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6080" y="3474720"/>
            <a:ext cx="274320" cy="27432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4564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Complete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376732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CHW reviews &amp; signs off</a:t>
            </a:r>
            <a:br/>
            <a:r>
              <a:t>Auto-generates structured</a:t>
            </a:r>
            <a:br/>
            <a:r>
              <a:t>session documentation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4892040" y="3749040"/>
            <a:ext cx="201168" cy="228600"/>
          </a:xfrm>
          <a:prstGeom prst="lef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20640" y="3383280"/>
            <a:ext cx="20116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12080" y="3474720"/>
            <a:ext cx="274320" cy="27432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45643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Document Visit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76732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Session notes / narrative</a:t>
            </a:r>
            <a:br/>
            <a:r>
              <a:t>Goals addressed</a:t>
            </a:r>
            <a:br/>
            <a:r>
              <a:t>Referrals &amp; follow-ups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63440"/>
            <a:ext cx="65836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736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4E3B"/>
                </a:solidFill>
                <a:latin typeface="Calibri"/>
              </a:defRPr>
            </a:pPr>
            <a:r>
              <a:t>Data Captured Per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83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MEMBER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Medi-Cal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67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Full name &amp; DOB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6869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Address / county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698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Managed care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710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Contact info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983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Session 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367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Date &amp; duration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556869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Place of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0" y="57698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CHW provider info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9710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Org / NPI (config)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983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51663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Visit narrative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36752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Goals addressed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556869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Referrals made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576986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Follow-up actions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59710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• Supervisor sign-off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43800" y="1645920"/>
            <a:ext cx="228600" cy="4937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20" y="3657600"/>
            <a:ext cx="640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  <a:br/>
            <a:r>
              <a:t>SEAM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7178040" y="3017520"/>
            <a:ext cx="365760" cy="274320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46720" y="1645920"/>
            <a:ext cx="3840480" cy="493776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1965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Billing &amp; claims infrastructure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7818120" y="3017520"/>
            <a:ext cx="365760" cy="27432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229600" y="2377440"/>
            <a:ext cx="3474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366760" y="251460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  <a:latin typeface="Calibri"/>
              </a:defRPr>
            </a:pPr>
            <a:r>
              <a:t>Receive Session Data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2743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API ingests Compass data package</a:t>
            </a:r>
          </a:p>
        </p:txBody>
      </p:sp>
      <p:sp>
        <p:nvSpPr>
          <p:cNvPr id="66" name="Down Arrow 65"/>
          <p:cNvSpPr/>
          <p:nvPr/>
        </p:nvSpPr>
        <p:spPr>
          <a:xfrm>
            <a:off x="9784080" y="3154680"/>
            <a:ext cx="228600" cy="18288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3429000"/>
            <a:ext cx="3474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366760" y="356616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32520" y="3520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  <a:latin typeface="Calibri"/>
              </a:defRPr>
            </a:pPr>
            <a:r>
              <a:t>Map &amp; Validate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3794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Add CPT/HCPCS, ICD-10, apply rules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9784080" y="4206240"/>
            <a:ext cx="228600" cy="18288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229600" y="4480560"/>
            <a:ext cx="3474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366760" y="461772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2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  <a:latin typeface="Calibri"/>
              </a:defRPr>
            </a:pPr>
            <a:r>
              <a:t>Submit to Clearinghouse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20" y="4846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Route claim to Medi-Cal / plan</a:t>
            </a:r>
          </a:p>
        </p:txBody>
      </p:sp>
      <p:sp>
        <p:nvSpPr>
          <p:cNvPr id="76" name="Down Arrow 75"/>
          <p:cNvSpPr/>
          <p:nvPr/>
        </p:nvSpPr>
        <p:spPr>
          <a:xfrm>
            <a:off x="9784080" y="5257800"/>
            <a:ext cx="228600" cy="182880"/>
          </a:xfrm>
          <a:prstGeom prst="down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229600" y="5532120"/>
            <a:ext cx="34747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66760" y="566928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32520" y="5623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  <a:latin typeface="Calibri"/>
              </a:defRPr>
            </a:pPr>
            <a:r>
              <a:t>Adjudicate &amp; Report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32520" y="5897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Paid / denied / resubmit status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0" y="6400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5CF6"/>
                </a:solidFill>
                <a:latin typeface="Calibri"/>
              </a:defRPr>
            </a:pPr>
            <a:r>
              <a:t>↩ Status callback to Compass (webhook / polling)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How are CHW organizations currently getting session data</a:t>
            </a:r>
            <a:br/>
            <a:r>
              <a:t>into Pear Suite for claims submission?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WE'RE 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Need to understand existing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before proposing a new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Manual entry? CSV? API?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3200400" cy="1005840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Calibri"/>
              </a:defRPr>
            </a:pPr>
            <a:r>
              <a:t>ASSUMPTION TO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2400E"/>
                </a:solidFill>
                <a:latin typeface="Calibri"/>
              </a:defRPr>
            </a:pPr>
            <a:r>
              <a:t>Most CHW orgs rely on manual data entry</a:t>
            </a:r>
            <a:br/>
            <a:r>
              <a:t>or paper forms → significant time gap.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Current Suspected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468880"/>
            <a:ext cx="1920240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560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CHW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34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Field visit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55080" y="26974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2468880"/>
            <a:ext cx="1920240" cy="7772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560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Paper /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834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Manual capture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2520" y="269748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468880"/>
            <a:ext cx="1920240" cy="7772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560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Manual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834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Into Pear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37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hours/days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337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hours/days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749039"/>
            <a:ext cx="7132320" cy="18288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B6A"/>
                </a:solidFill>
                <a:latin typeface="Calibri"/>
              </a:defRPr>
            </a:pPr>
            <a:r>
              <a:t>Proposed: Compass Integration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297680"/>
            <a:ext cx="1920240" cy="777240"/>
          </a:xfrm>
          <a:prstGeom prst="roundRect">
            <a:avLst/>
          </a:prstGeom>
          <a:solidFill>
            <a:srgbClr val="ECFDF5"/>
          </a:solidFill>
          <a:ln w="317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389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CHW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Field visit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355080" y="4526280"/>
            <a:ext cx="320040" cy="274320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66560" y="4297680"/>
            <a:ext cx="1920240" cy="777240"/>
          </a:xfrm>
          <a:prstGeom prst="roundRect">
            <a:avLst/>
          </a:prstGeom>
          <a:solidFill>
            <a:srgbClr val="ECFDF5"/>
          </a:solidFill>
          <a:ln w="317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389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Compass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Digital capture</a:t>
            </a:r>
            <a:br/>
            <a:r>
              <a:t>in real-time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8732520" y="4526280"/>
            <a:ext cx="320040" cy="274320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0" y="4297680"/>
            <a:ext cx="1920240" cy="777240"/>
          </a:xfrm>
          <a:prstGeom prst="roundRect">
            <a:avLst/>
          </a:prstGeom>
          <a:solidFill>
            <a:srgbClr val="FFF7ED"/>
          </a:solidFill>
          <a:ln w="317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4389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Calibri"/>
              </a:defRPr>
            </a:pPr>
            <a:r>
              <a:t>Pear Suite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Auto-submit</a:t>
            </a:r>
            <a:br/>
            <a:r>
              <a:t>claims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663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B6A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1663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B6A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760720"/>
            <a:ext cx="2743200" cy="411480"/>
          </a:xfrm>
          <a:prstGeom prst="roundRect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788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Days →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What does your API surface look like — REST, GraphQL,</a:t>
            </a:r>
            <a:br/>
            <a:r>
              <a:t>webhooks, or file-based exchange?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Determines entire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architecture and dev timeline.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Each approach has very different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real-time vs. batch implications.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32004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844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WE CAN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REST API (preferred)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99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Webhook callbacks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GraphQL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98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Batch file exchange (SFTP/S3)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286000"/>
            <a:ext cx="2011680" cy="292608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43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Session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CHW encounters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91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Member 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566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Service codes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63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Python / 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286000"/>
            <a:ext cx="2011680" cy="29260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2400E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Claims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Clearinghouse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2918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EHR connectors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5661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Medi-Cal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2468880"/>
            <a:ext cx="2194560" cy="457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Calibri"/>
              </a:defRPr>
            </a:pPr>
            <a:r>
              <a:t>A: REST API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400800" y="2578608"/>
            <a:ext cx="228600" cy="20116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8915400" y="2578608"/>
            <a:ext cx="228600" cy="20116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75120" y="3108960"/>
            <a:ext cx="2194560" cy="4572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Calibri"/>
              </a:defRPr>
            </a:pPr>
            <a:r>
              <a:t>B: Webhooks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400800" y="3218688"/>
            <a:ext cx="228600" cy="201168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915400" y="3218688"/>
            <a:ext cx="228600" cy="201168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75120" y="3749040"/>
            <a:ext cx="2194560" cy="457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794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4E3B"/>
                </a:solidFill>
                <a:latin typeface="Calibri"/>
              </a:defRPr>
            </a:pPr>
            <a:r>
              <a:t>C: GraphQL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400800" y="3858768"/>
            <a:ext cx="228600" cy="201168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8915400" y="3858768"/>
            <a:ext cx="228600" cy="201168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75120" y="4389120"/>
            <a:ext cx="2194560" cy="4572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2400E"/>
                </a:solidFill>
                <a:latin typeface="Calibri"/>
              </a:defRPr>
            </a:pPr>
            <a:r>
              <a:t>D: Batch / SFTP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6400800" y="4498848"/>
            <a:ext cx="228600" cy="201168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8915400" y="4498848"/>
            <a:ext cx="228600" cy="201168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Preferred: real-time API (A or C)</a:t>
            </a:r>
            <a:br/>
            <a:r>
              <a:t>Fallback: webhook + batch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DATA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What data fields does Pear Suite require to submit</a:t>
            </a:r>
            <a:br/>
            <a:r>
              <a:t>a Medi-Cal claim for a CHW encounter?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Compass must capture every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during the CHW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Missing fields = rejected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= lost revenue for the org.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200400" cy="9144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B6A"/>
                </a:solidFill>
                <a:latin typeface="Calibri"/>
              </a:defRPr>
            </a:pPr>
            <a:r>
              <a:t>OUR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4E3B"/>
                </a:solidFill>
                <a:latin typeface="Calibri"/>
              </a:defRPr>
            </a:pPr>
            <a:r>
              <a:t>Map Pear Suite's required schema to Compass</a:t>
            </a:r>
            <a:br/>
            <a:r>
              <a:t>form fields → zero manual re-entry.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011680"/>
            <a:ext cx="347472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103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4E3B"/>
                </a:solidFill>
                <a:latin typeface="Calibri"/>
              </a:defRPr>
            </a:pPr>
            <a:r>
              <a:t>Member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23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Medi-Cal ID</a:t>
            </a:r>
          </a:p>
        </p:txBody>
      </p:sp>
      <p:sp>
        <p:nvSpPr>
          <p:cNvPr id="17" name="Oval 16"/>
          <p:cNvSpPr/>
          <p:nvPr/>
        </p:nvSpPr>
        <p:spPr>
          <a:xfrm>
            <a:off x="7269480" y="2441448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791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Member name &amp; DOB</a:t>
            </a:r>
          </a:p>
        </p:txBody>
      </p:sp>
      <p:sp>
        <p:nvSpPr>
          <p:cNvPr id="19" name="Oval 18"/>
          <p:cNvSpPr/>
          <p:nvPr/>
        </p:nvSpPr>
        <p:spPr>
          <a:xfrm>
            <a:off x="7269480" y="2697480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3522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Address / County</a:t>
            </a:r>
          </a:p>
        </p:txBody>
      </p:sp>
      <p:sp>
        <p:nvSpPr>
          <p:cNvPr id="21" name="Oval 20"/>
          <p:cNvSpPr/>
          <p:nvPr/>
        </p:nvSpPr>
        <p:spPr>
          <a:xfrm>
            <a:off x="7269480" y="2953512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912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Managed care plan</a:t>
            </a:r>
          </a:p>
        </p:txBody>
      </p:sp>
      <p:sp>
        <p:nvSpPr>
          <p:cNvPr id="23" name="Oval 22"/>
          <p:cNvSpPr/>
          <p:nvPr/>
        </p:nvSpPr>
        <p:spPr>
          <a:xfrm>
            <a:off x="7269480" y="3209544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4472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Eligibility status</a:t>
            </a:r>
          </a:p>
        </p:txBody>
      </p:sp>
      <p:sp>
        <p:nvSpPr>
          <p:cNvPr id="25" name="Oval 24"/>
          <p:cNvSpPr/>
          <p:nvPr/>
        </p:nvSpPr>
        <p:spPr>
          <a:xfrm>
            <a:off x="7269480" y="3465576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011680"/>
            <a:ext cx="3474720" cy="21945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103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2400E"/>
                </a:solidFill>
                <a:latin typeface="Calibri"/>
              </a:defRPr>
            </a:pPr>
            <a:r>
              <a:t>Service Details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423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CPT / HCPCS codes</a:t>
            </a:r>
          </a:p>
        </p:txBody>
      </p:sp>
      <p:sp>
        <p:nvSpPr>
          <p:cNvPr id="29" name="Oval 28"/>
          <p:cNvSpPr/>
          <p:nvPr/>
        </p:nvSpPr>
        <p:spPr>
          <a:xfrm>
            <a:off x="11109960" y="2441448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6791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ICD-10 diagnosis codes</a:t>
            </a:r>
          </a:p>
        </p:txBody>
      </p:sp>
      <p:sp>
        <p:nvSpPr>
          <p:cNvPr id="31" name="Oval 30"/>
          <p:cNvSpPr/>
          <p:nvPr/>
        </p:nvSpPr>
        <p:spPr>
          <a:xfrm>
            <a:off x="11109960" y="269748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93522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Service date &amp; duration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11109960" y="2953512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1912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Place of service</a:t>
            </a:r>
          </a:p>
        </p:txBody>
      </p:sp>
      <p:sp>
        <p:nvSpPr>
          <p:cNvPr id="35" name="Oval 34"/>
          <p:cNvSpPr/>
          <p:nvPr/>
        </p:nvSpPr>
        <p:spPr>
          <a:xfrm>
            <a:off x="11109960" y="3209544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34472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Rendering provider NPI</a:t>
            </a:r>
          </a:p>
        </p:txBody>
      </p:sp>
      <p:sp>
        <p:nvSpPr>
          <p:cNvPr id="37" name="Oval 36"/>
          <p:cNvSpPr/>
          <p:nvPr/>
        </p:nvSpPr>
        <p:spPr>
          <a:xfrm>
            <a:off x="11109960" y="3465576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4389120"/>
            <a:ext cx="347472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4480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  <a:latin typeface="Calibri"/>
              </a:defRPr>
            </a:pPr>
            <a:r>
              <a:t>Provider / Org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800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Billing provider NPI</a:t>
            </a:r>
          </a:p>
        </p:txBody>
      </p:sp>
      <p:sp>
        <p:nvSpPr>
          <p:cNvPr id="41" name="Oval 40"/>
          <p:cNvSpPr/>
          <p:nvPr/>
        </p:nvSpPr>
        <p:spPr>
          <a:xfrm>
            <a:off x="7269480" y="4818888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50566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Tax ID / EIN</a:t>
            </a:r>
          </a:p>
        </p:txBody>
      </p:sp>
      <p:sp>
        <p:nvSpPr>
          <p:cNvPr id="43" name="Oval 42"/>
          <p:cNvSpPr/>
          <p:nvPr/>
        </p:nvSpPr>
        <p:spPr>
          <a:xfrm>
            <a:off x="7269480" y="507492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3126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Org name &amp; address</a:t>
            </a:r>
          </a:p>
        </p:txBody>
      </p:sp>
      <p:sp>
        <p:nvSpPr>
          <p:cNvPr id="45" name="Oval 44"/>
          <p:cNvSpPr/>
          <p:nvPr/>
        </p:nvSpPr>
        <p:spPr>
          <a:xfrm>
            <a:off x="7269480" y="5330952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389120"/>
            <a:ext cx="3474720" cy="16459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4480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D28D9"/>
                </a:solidFill>
                <a:latin typeface="Calibri"/>
              </a:defRPr>
            </a:pPr>
            <a:r>
              <a:t>Session Documentation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800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Session notes / summary</a:t>
            </a:r>
          </a:p>
        </p:txBody>
      </p:sp>
      <p:sp>
        <p:nvSpPr>
          <p:cNvPr id="49" name="Oval 48"/>
          <p:cNvSpPr/>
          <p:nvPr/>
        </p:nvSpPr>
        <p:spPr>
          <a:xfrm>
            <a:off x="11109960" y="4818888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50566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Goals addressed</a:t>
            </a:r>
          </a:p>
        </p:txBody>
      </p:sp>
      <p:sp>
        <p:nvSpPr>
          <p:cNvPr id="51" name="Oval 50"/>
          <p:cNvSpPr/>
          <p:nvPr/>
        </p:nvSpPr>
        <p:spPr>
          <a:xfrm>
            <a:off x="11109960" y="5074920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80" y="53126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Referrals made</a:t>
            </a:r>
          </a:p>
        </p:txBody>
      </p:sp>
      <p:sp>
        <p:nvSpPr>
          <p:cNvPr id="53" name="Oval 52"/>
          <p:cNvSpPr/>
          <p:nvPr/>
        </p:nvSpPr>
        <p:spPr>
          <a:xfrm>
            <a:off x="11109960" y="5330952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54" name="Oval 53"/>
          <p:cNvSpPr/>
          <p:nvPr/>
        </p:nvSpPr>
        <p:spPr>
          <a:xfrm>
            <a:off x="548640" y="6217920"/>
            <a:ext cx="182880" cy="1828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1996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= Compass captures today</a:t>
            </a:r>
          </a:p>
        </p:txBody>
      </p:sp>
      <p:sp>
        <p:nvSpPr>
          <p:cNvPr id="56" name="Oval 55"/>
          <p:cNvSpPr/>
          <p:nvPr/>
        </p:nvSpPr>
        <p:spPr>
          <a:xfrm>
            <a:off x="2743200" y="621792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71800" y="61996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= Need to confirm with Pear Suite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How do you handle authentication for third-party integrations</a:t>
            </a:r>
            <a:br/>
            <a:r>
              <a:t>— API keys, OAuth, or org-scoped tokens?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Auth model determines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architecture. Per-org tokens vs.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per-user OAuth = very different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implementation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2004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COMPASS AUTH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AWS Cognito (user auth)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6849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JWT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8795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Role-based 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074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Per-org data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103120"/>
            <a:ext cx="713232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2128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Calibri"/>
              </a:defRPr>
            </a:pPr>
            <a:r>
              <a:t>A: API Key (per-org)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606040"/>
            <a:ext cx="1097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624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760720" y="2651760"/>
            <a:ext cx="274320" cy="201168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2606040"/>
            <a:ext cx="1097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6243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Simplest. Key stored in AWS Secrets Manager.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337560"/>
            <a:ext cx="7132320" cy="10058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D28D9"/>
                </a:solidFill>
                <a:latin typeface="Calibri"/>
              </a:defRPr>
            </a:pPr>
            <a:r>
              <a:t>B: OAuth 2.0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840480"/>
            <a:ext cx="1097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858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760720" y="3886200"/>
            <a:ext cx="274320" cy="201168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3840480"/>
            <a:ext cx="1097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858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Per-user. More complex. Standard 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572000"/>
            <a:ext cx="7132320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681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4E3B"/>
                </a:solidFill>
                <a:latin typeface="Calibri"/>
              </a:defRPr>
            </a:pPr>
            <a:r>
              <a:t>C: Service-to-Service (mTLS / JWT)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5074920"/>
            <a:ext cx="1097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5093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760720" y="5120640"/>
            <a:ext cx="274320" cy="201168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26480" y="5074920"/>
            <a:ext cx="1097280" cy="320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5093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Most secure. Needs cert management.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5760720"/>
            <a:ext cx="3200400" cy="4114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5788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Which model does Pear Suite use?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What are your HIPAA requirements for integration partners</a:t>
            </a:r>
            <a:br/>
            <a:r>
              <a:t>— do you require a BAA and security review?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PHI will flow between both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Need Pear Suite's compliance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to build a concrete checklist.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3200400" cy="914400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930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Calibri"/>
              </a:defRPr>
            </a:pPr>
            <a:r>
              <a:t>OUR CURRENT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2400E"/>
                </a:solidFill>
                <a:latin typeface="Calibri"/>
              </a:defRPr>
            </a:pPr>
            <a:r>
              <a:t>Compass audit flagged HIPAA at 1/10.</a:t>
            </a:r>
            <a:br/>
            <a:r>
              <a:t>Knowing Pear Suite's bar gives us</a:t>
            </a:r>
            <a:br/>
            <a:r>
              <a:t>a concrete compliance checklist.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2926080" cy="411480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AWS (BAA needed)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260604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Encryption at rest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2971800"/>
            <a:ext cx="164592" cy="164592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291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Encryption in transit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3337560"/>
            <a:ext cx="164592" cy="164592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657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Audit logging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370332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Access controls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4069080"/>
            <a:ext cx="164592" cy="164592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389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Data retention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443484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79" y="3200400"/>
            <a:ext cx="1097280" cy="109728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931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BD5E1"/>
                </a:solidFill>
                <a:latin typeface="Calibri"/>
              </a:defRPr>
            </a:pPr>
            <a:r>
              <a:t>TLS 1.3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2011680"/>
            <a:ext cx="2926080" cy="41148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2400E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560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BAA required?</a:t>
            </a:r>
          </a:p>
        </p:txBody>
      </p:sp>
      <p:sp>
        <p:nvSpPr>
          <p:cNvPr id="34" name="Oval 33"/>
          <p:cNvSpPr/>
          <p:nvPr/>
        </p:nvSpPr>
        <p:spPr>
          <a:xfrm>
            <a:off x="11247120" y="260604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2926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Security review?</a:t>
            </a:r>
          </a:p>
        </p:txBody>
      </p:sp>
      <p:sp>
        <p:nvSpPr>
          <p:cNvPr id="36" name="Oval 35"/>
          <p:cNvSpPr/>
          <p:nvPr/>
        </p:nvSpPr>
        <p:spPr>
          <a:xfrm>
            <a:off x="11247120" y="297180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3291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SOC 2?</a:t>
            </a:r>
          </a:p>
        </p:txBody>
      </p:sp>
      <p:sp>
        <p:nvSpPr>
          <p:cNvPr id="38" name="Oval 37"/>
          <p:cNvSpPr/>
          <p:nvPr/>
        </p:nvSpPr>
        <p:spPr>
          <a:xfrm>
            <a:off x="11247120" y="333756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0" y="36576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Pen test needed?</a:t>
            </a:r>
          </a:p>
        </p:txBody>
      </p:sp>
      <p:sp>
        <p:nvSpPr>
          <p:cNvPr id="40" name="Oval 39"/>
          <p:cNvSpPr/>
          <p:nvPr/>
        </p:nvSpPr>
        <p:spPr>
          <a:xfrm>
            <a:off x="11247120" y="370332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Data handling SLA?</a:t>
            </a:r>
          </a:p>
        </p:txBody>
      </p:sp>
      <p:sp>
        <p:nvSpPr>
          <p:cNvPr id="42" name="Oval 41"/>
          <p:cNvSpPr/>
          <p:nvPr/>
        </p:nvSpPr>
        <p:spPr>
          <a:xfrm>
            <a:off x="11247120" y="406908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4389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Breach protocol?</a:t>
            </a:r>
          </a:p>
        </p:txBody>
      </p:sp>
      <p:sp>
        <p:nvSpPr>
          <p:cNvPr id="44" name="Oval 43"/>
          <p:cNvSpPr/>
          <p:nvPr/>
        </p:nvSpPr>
        <p:spPr>
          <a:xfrm>
            <a:off x="11247120" y="443484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389120" y="6400800"/>
            <a:ext cx="164592" cy="164592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63733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Done</a:t>
            </a:r>
          </a:p>
        </p:txBody>
      </p:sp>
      <p:sp>
        <p:nvSpPr>
          <p:cNvPr id="47" name="Oval 46"/>
          <p:cNvSpPr/>
          <p:nvPr/>
        </p:nvSpPr>
        <p:spPr>
          <a:xfrm>
            <a:off x="6035040" y="640080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63733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49" name="Oval 48"/>
          <p:cNvSpPr/>
          <p:nvPr/>
        </p:nvSpPr>
        <p:spPr>
          <a:xfrm>
            <a:off x="7680960" y="640080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09560" y="63733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To do</a:t>
            </a:r>
          </a:p>
        </p:txBody>
      </p:sp>
      <p:sp>
        <p:nvSpPr>
          <p:cNvPr id="51" name="Oval 50"/>
          <p:cNvSpPr/>
          <p:nvPr/>
        </p:nvSpPr>
        <p:spPr>
          <a:xfrm>
            <a:off x="9326880" y="6400800"/>
            <a:ext cx="164592" cy="164592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63733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Ask Nick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What does the claims lifecycle look like after submission</a:t>
            </a:r>
            <a:br/>
            <a:r>
              <a:t>— how would Compass get status updates?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If Compass submits but never knows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if the claim paid out, CHW orgs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lose visibility. Closing the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is the entire value prop.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200400" cy="9144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B6A"/>
                </a:solidFill>
                <a:latin typeface="Calibri"/>
              </a:defRPr>
            </a:pPr>
            <a:r>
              <a:t>IDEAL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4E3B"/>
                </a:solidFill>
                <a:latin typeface="Calibri"/>
              </a:defRPr>
            </a:pPr>
            <a:r>
              <a:t>CHW sees claim status in-app:</a:t>
            </a:r>
            <a:br/>
            <a:r>
              <a:t>submitted → accepted → denied → paid.</a:t>
            </a:r>
            <a:br/>
            <a:r>
              <a:t>Zero context-switching.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2084832"/>
            <a:ext cx="365760" cy="36576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011680"/>
            <a:ext cx="6400800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03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Submitted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2316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Compass sends session data to Pear Suite via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2788920"/>
            <a:ext cx="73152" cy="3200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9120" y="3182112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108960"/>
            <a:ext cx="640080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2004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Validated / Scrubbed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5204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Pear Suite validates claim against Medi-Cal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886200"/>
            <a:ext cx="73152" cy="3200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89120" y="4279392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4206240"/>
            <a:ext cx="6400800" cy="77724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42976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Clearinghouse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6177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Claim routed to Medi-Cal / managed care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4983480"/>
            <a:ext cx="73152" cy="3200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89120" y="5376672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5303520"/>
            <a:ext cx="6400800" cy="7772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5394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Adjudicated — Paid / Denied / Resubmit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7150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How does Compass learn the outcome? Webhook? Polling?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943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↩ Status callback?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Is there a sandbox or staging environment</a:t>
            </a:r>
            <a:br/>
            <a:r>
              <a:t>we could develop and test against?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We need a non-production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to build, test, and iterate.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No sandbox = significantly longer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development timeline.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32004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844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WHAT WE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API endpoint(s) with test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599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Test Medi-Cal member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Mock claim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98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Rate limits / quotas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1830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API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103120"/>
            <a:ext cx="3017520" cy="18288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D28D9"/>
                </a:solidFill>
                <a:latin typeface="Calibri"/>
              </a:defRPr>
            </a:pPr>
            <a:r>
              <a:t>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2651760"/>
            <a:ext cx="91440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06440" y="2743200"/>
            <a:ext cx="228600" cy="182880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2651760"/>
            <a:ext cx="91440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D28D9"/>
                </a:solidFill>
                <a:latin typeface="Calibri"/>
              </a:defRPr>
            </a:pPr>
            <a:r>
              <a:t>local → sandbox</a:t>
            </a:r>
            <a:br/>
            <a:r>
              <a:t>Test data / mock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103120"/>
            <a:ext cx="3017520" cy="1828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4ED8"/>
                </a:solidFill>
                <a:latin typeface="Calibri"/>
              </a:defRPr>
            </a:pPr>
            <a:r>
              <a:t>Staging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651760"/>
            <a:ext cx="91440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81160" y="2743200"/>
            <a:ext cx="228600" cy="182880"/>
          </a:xfrm>
          <a:prstGeom prst="right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0" y="2651760"/>
            <a:ext cx="91440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D4ED8"/>
                </a:solidFill>
                <a:latin typeface="Calibri"/>
              </a:defRPr>
            </a:pPr>
            <a:r>
              <a:t>staging → staging</a:t>
            </a:r>
            <a:br/>
            <a:r>
              <a:t>End-to-end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389120"/>
            <a:ext cx="3017520" cy="2011680"/>
          </a:xfrm>
          <a:prstGeom prst="roundRect">
            <a:avLst/>
          </a:prstGeom>
          <a:solidFill>
            <a:srgbClr val="ECFDF5"/>
          </a:solidFill>
          <a:ln w="317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480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937760"/>
            <a:ext cx="91440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956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Compass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543800" y="5029200"/>
            <a:ext cx="228600" cy="182880"/>
          </a:xfrm>
          <a:prstGeom prst="rightArrow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63840" y="4937760"/>
            <a:ext cx="91440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4956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Pear Suite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669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4E3B"/>
                </a:solidFill>
                <a:latin typeface="Calibri"/>
              </a:defRPr>
            </a:pPr>
            <a:r>
              <a:t>Real PHI / real claims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PRECEDENT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Are there other platforms integrating with Pear Suite today</a:t>
            </a:r>
            <a:br/>
            <a:r>
              <a:t>that we could reference as a model?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If someone has already done this,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we can learn from their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Saves months of guesswork.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3200400" cy="9144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9300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B6A"/>
                </a:solidFill>
                <a:latin typeface="Calibri"/>
              </a:defRPr>
            </a:pPr>
            <a:r>
              <a:t>WHAT WE'RE LOOKING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4E3B"/>
                </a:solidFill>
                <a:latin typeface="Calibri"/>
              </a:defRPr>
            </a:pPr>
            <a:r>
              <a:t>Integration patterns, API usage examples,</a:t>
            </a:r>
            <a:br/>
            <a:r>
              <a:t>common pitfalls, time-to-integration</a:t>
            </a:r>
            <a:br/>
            <a:r>
              <a:t>benchmarks from existing partners.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31089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Pear</a:t>
            </a:r>
            <a:br/>
            <a:r>
              <a:t>Suite</a:t>
            </a:r>
          </a:p>
        </p:txBody>
      </p:sp>
      <p:sp>
        <p:nvSpPr>
          <p:cNvPr id="14" name="Oval 13"/>
          <p:cNvSpPr/>
          <p:nvPr/>
        </p:nvSpPr>
        <p:spPr>
          <a:xfrm>
            <a:off x="7360920" y="1463040"/>
            <a:ext cx="822960" cy="82296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Compass</a:t>
            </a:r>
            <a:br/>
            <a:r>
              <a:t>CHW</a:t>
            </a:r>
          </a:p>
        </p:txBody>
      </p:sp>
      <p:sp>
        <p:nvSpPr>
          <p:cNvPr id="15" name="Oval 14"/>
          <p:cNvSpPr/>
          <p:nvPr/>
        </p:nvSpPr>
        <p:spPr>
          <a:xfrm>
            <a:off x="5349240" y="269748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EHR</a:t>
            </a:r>
            <a:br/>
            <a:r>
              <a:t>Partner?</a:t>
            </a:r>
          </a:p>
        </p:txBody>
      </p:sp>
      <p:sp>
        <p:nvSpPr>
          <p:cNvPr id="16" name="Oval 15"/>
          <p:cNvSpPr/>
          <p:nvPr/>
        </p:nvSpPr>
        <p:spPr>
          <a:xfrm>
            <a:off x="9372600" y="269748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Health</a:t>
            </a:r>
            <a:br/>
            <a:r>
              <a:t>Plan?</a:t>
            </a:r>
          </a:p>
        </p:txBody>
      </p:sp>
      <p:sp>
        <p:nvSpPr>
          <p:cNvPr id="17" name="Oval 16"/>
          <p:cNvSpPr/>
          <p:nvPr/>
        </p:nvSpPr>
        <p:spPr>
          <a:xfrm>
            <a:off x="5532120" y="452628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</a:t>
            </a:r>
            <a:br/>
            <a:r>
              <a:t>Mgmt?</a:t>
            </a:r>
          </a:p>
        </p:txBody>
      </p:sp>
      <p:sp>
        <p:nvSpPr>
          <p:cNvPr id="18" name="Oval 17"/>
          <p:cNvSpPr/>
          <p:nvPr/>
        </p:nvSpPr>
        <p:spPr>
          <a:xfrm>
            <a:off x="9189720" y="4526280"/>
            <a:ext cx="822960" cy="82296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Other</a:t>
            </a:r>
            <a:br/>
            <a:r>
              <a:t>CHW?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Dashed partners are unknown — ask Nick to fill in the ecosystem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11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B6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Calibri"/>
              </a:defRPr>
            </a:pPr>
            <a:r>
              <a:t>What would a Phase 1 integration look like,</a:t>
            </a:r>
            <a:br/>
            <a:r>
              <a:t>and what's the fastest path to a working demo?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20040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Closes with a concrete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Ship something small and real,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0779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not plan forever.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3200400" cy="82296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B6A"/>
                </a:solidFill>
                <a:latin typeface="Calibri"/>
              </a:defRPr>
            </a:pPr>
            <a:r>
              <a:t>OUR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4E3B"/>
                </a:solidFill>
                <a:latin typeface="Calibri"/>
              </a:defRPr>
            </a:pPr>
            <a:r>
              <a:t>One CHW org, one session type, one claim</a:t>
            </a:r>
            <a:br/>
            <a:r>
              <a:t>flow — end to end. Prove it, then scale.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7132320" cy="36576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0" y="1783080"/>
            <a:ext cx="411480" cy="411480"/>
          </a:xfrm>
          <a:prstGeom prst="ellipse">
            <a:avLst/>
          </a:prstGeom>
          <a:solidFill>
            <a:srgbClr val="0D9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508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B6A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1783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508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Oval 17"/>
          <p:cNvSpPr/>
          <p:nvPr/>
        </p:nvSpPr>
        <p:spPr>
          <a:xfrm>
            <a:off x="10241280" y="178308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1508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377440"/>
            <a:ext cx="2926080" cy="4114800"/>
          </a:xfrm>
          <a:prstGeom prst="roundRect">
            <a:avLst/>
          </a:prstGeom>
          <a:solidFill>
            <a:srgbClr val="ECFDF5"/>
          </a:solidFill>
          <a:ln w="31750">
            <a:solidFill>
              <a:srgbClr val="0D9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468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Calibri"/>
              </a:defRPr>
            </a:pPr>
            <a:r>
              <a:t>MVP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743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4–6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1 CHW organization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93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1 session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8561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Submit claims via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07822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Basic status callback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3708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BAA signed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4E3B"/>
                </a:solidFill>
                <a:latin typeface="Calibri"/>
              </a:defRPr>
            </a:pPr>
            <a:r>
              <a:t>Deliverable: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Working demo with</a:t>
            </a:r>
            <a:br/>
            <a:r>
              <a:t>real claim submission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2377440"/>
            <a:ext cx="2377440" cy="3657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4ED8"/>
                </a:solidFill>
                <a:latin typeface="Calibri"/>
              </a:defRPr>
            </a:pPr>
            <a:r>
              <a:t>Expand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743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8–12 weeks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200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Multi-org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4930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All session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7856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Full status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0782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Denial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370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Dashboard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54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4ED8"/>
                </a:solidFill>
                <a:latin typeface="Calibri"/>
              </a:defRPr>
            </a:pPr>
            <a:r>
              <a:t>Deliverable: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029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Production-ready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0" y="2377440"/>
            <a:ext cx="1645920" cy="32004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D28D9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743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Ongoing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200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EHR sync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4930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Auto-coding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378561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07822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Calibri"/>
              </a:defRPr>
            </a:pPr>
            <a:r>
              <a:t>• Multi-state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Let's Build This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Calibri"/>
              </a:defRPr>
            </a:pPr>
            <a:r>
              <a:t>Compass handles the CHW experience.</a:t>
            </a:r>
            <a:br/>
            <a:r>
              <a:t>Pear Suite handles billing infrastructure.</a:t>
            </a:r>
            <a:br/>
            <a:r>
              <a:t>Together: field visit to paid claim, seamlessly.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Next steps: sandbox access  •  BAA discussion  •  schema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