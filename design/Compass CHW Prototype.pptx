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9" roundtripDataSignature="AMtx7mhkn1SqiaGmxbyjbxWn2fC/tAFFe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" name="Google Shape;50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4" name="Google Shape;214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F0D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B050"/>
          </a:solidFill>
          <a:ln cap="flat" cmpd="sng" w="127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7132320" y="3474720"/>
            <a:ext cx="3200400" cy="3200400"/>
          </a:xfrm>
          <a:prstGeom prst="ellipse">
            <a:avLst/>
          </a:prstGeom>
          <a:solidFill>
            <a:srgbClr val="00B050">
              <a:alpha val="7843"/>
            </a:srgbClr>
          </a:solidFill>
          <a:ln cap="flat" cmpd="sng" w="12700">
            <a:solidFill>
              <a:srgbClr val="00B050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" name="Google Shape;14;p1"/>
          <p:cNvPicPr preferRelativeResize="0"/>
          <p:nvPr/>
        </p:nvPicPr>
        <p:blipFill rotWithShape="1">
          <a:blip r:embed="rId3">
            <a:alphaModFix/>
          </a:blip>
          <a:srcRect b="15610" l="22357" r="4961" t="3307"/>
          <a:stretch/>
        </p:blipFill>
        <p:spPr>
          <a:xfrm>
            <a:off x="8079475" y="409433"/>
            <a:ext cx="2879678" cy="5554638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1"/>
          <p:cNvSpPr/>
          <p:nvPr/>
        </p:nvSpPr>
        <p:spPr>
          <a:xfrm>
            <a:off x="8511966" y="1078694"/>
            <a:ext cx="2143524" cy="4325325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8511966" y="1078694"/>
            <a:ext cx="2143524" cy="951571"/>
          </a:xfrm>
          <a:prstGeom prst="rect">
            <a:avLst/>
          </a:prstGeom>
          <a:solidFill>
            <a:srgbClr val="00B050"/>
          </a:solidFill>
          <a:ln cap="flat" cmpd="sng" w="127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9327696" y="1151846"/>
            <a:ext cx="512064" cy="512064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8511966" y="1691342"/>
            <a:ext cx="214352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Compass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8511966" y="2116772"/>
            <a:ext cx="21435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Welcome Back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8511966" y="2317940"/>
            <a:ext cx="214352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Sign in to continue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8594262" y="2722317"/>
            <a:ext cx="1978932" cy="246888"/>
          </a:xfrm>
          <a:prstGeom prst="roundRect">
            <a:avLst>
              <a:gd fmla="val 18519" name="adj"/>
            </a:avLst>
          </a:prstGeom>
          <a:solidFill>
            <a:srgbClr val="F5F5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8658270" y="2722317"/>
            <a:ext cx="188749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Username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8594262" y="3241356"/>
            <a:ext cx="1978932" cy="246888"/>
          </a:xfrm>
          <a:prstGeom prst="roundRect">
            <a:avLst>
              <a:gd fmla="val 18519" name="adj"/>
            </a:avLst>
          </a:prstGeom>
          <a:solidFill>
            <a:srgbClr val="F5F5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8658270" y="3241356"/>
            <a:ext cx="188749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Password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8594262" y="3803648"/>
            <a:ext cx="1978932" cy="246888"/>
          </a:xfrm>
          <a:prstGeom prst="roundRect">
            <a:avLst>
              <a:gd fmla="val 18519" name="adj"/>
            </a:avLst>
          </a:prstGeom>
          <a:solidFill>
            <a:srgbClr val="00B050"/>
          </a:solidFill>
          <a:ln cap="flat" cmpd="sng" w="127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8594262" y="3803648"/>
            <a:ext cx="197893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LOG IN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8830943" y="4322687"/>
            <a:ext cx="201168" cy="201168"/>
          </a:xfrm>
          <a:prstGeom prst="ellipse">
            <a:avLst/>
          </a:prstGeom>
          <a:solidFill>
            <a:srgbClr val="00B050"/>
          </a:solidFill>
          <a:ln cap="flat" cmpd="sng" w="127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8666351" y="4542143"/>
            <a:ext cx="5486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700"/>
              <a:buFont typeface="Calibri"/>
              <a:buNone/>
            </a:pPr>
            <a:r>
              <a:rPr lang="en-US" sz="7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Basic Info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9474000" y="4322687"/>
            <a:ext cx="201168" cy="201168"/>
          </a:xfrm>
          <a:prstGeom prst="ellipse">
            <a:avLst/>
          </a:prstGeom>
          <a:solidFill>
            <a:srgbClr val="DDDDDD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9309408" y="4542143"/>
            <a:ext cx="5486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700"/>
              <a:buFont typeface="Calibri"/>
              <a:buNone/>
            </a:pPr>
            <a:r>
              <a:rPr lang="en-US" sz="7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Health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10117057" y="4322687"/>
            <a:ext cx="201168" cy="201168"/>
          </a:xfrm>
          <a:prstGeom prst="ellipse">
            <a:avLst/>
          </a:prstGeom>
          <a:solidFill>
            <a:srgbClr val="DDDDDD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9952465" y="4542143"/>
            <a:ext cx="5486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700"/>
              <a:buFont typeface="Calibri"/>
              <a:buNone/>
            </a:pPr>
            <a:r>
              <a:rPr lang="en-US" sz="7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Insurance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8594262" y="4841726"/>
            <a:ext cx="1978932" cy="219456"/>
          </a:xfrm>
          <a:prstGeom prst="roundRect">
            <a:avLst>
              <a:gd fmla="val 16667" name="adj"/>
            </a:avLst>
          </a:prstGeom>
          <a:solidFill>
            <a:srgbClr val="E8F5E9"/>
          </a:solidFill>
          <a:ln cap="flat" cmpd="sng" w="9525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8594262" y="4841726"/>
            <a:ext cx="197893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Connect Insurance Provider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"/>
          <p:cNvSpPr/>
          <p:nvPr/>
        </p:nvSpPr>
        <p:spPr>
          <a:xfrm>
            <a:off x="320040" y="1554480"/>
            <a:ext cx="6858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7600"/>
              <a:buFont typeface="Calibri"/>
              <a:buNone/>
            </a:pPr>
            <a:r>
              <a:rPr b="1" lang="en-US" sz="76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Compass</a:t>
            </a:r>
            <a:endParaRPr sz="7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1"/>
          <p:cNvSpPr/>
          <p:nvPr/>
        </p:nvSpPr>
        <p:spPr>
          <a:xfrm>
            <a:off x="320040" y="2468880"/>
            <a:ext cx="6858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libri"/>
              <a:buNone/>
            </a:pPr>
            <a:r>
              <a:rPr b="1" lang="en-US" sz="5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CHW Prototype</a:t>
            </a:r>
            <a:endParaRPr sz="5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1"/>
          <p:cNvSpPr/>
          <p:nvPr/>
        </p:nvSpPr>
        <p:spPr>
          <a:xfrm>
            <a:off x="320040" y="3337560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2000"/>
              <a:buFont typeface="Calibri"/>
              <a:buNone/>
            </a:pPr>
            <a:r>
              <a:rPr lang="en-US" sz="20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Community Health Worker Mobile App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1"/>
          <p:cNvSpPr/>
          <p:nvPr/>
        </p:nvSpPr>
        <p:spPr>
          <a:xfrm>
            <a:off x="320040" y="3840480"/>
            <a:ext cx="6858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</a:pPr>
            <a:r>
              <a:rPr b="1" i="1" lang="en-US" sz="20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Care Navigation. On Demand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1"/>
          <p:cNvSpPr/>
          <p:nvPr/>
        </p:nvSpPr>
        <p:spPr>
          <a:xfrm>
            <a:off x="320040" y="5074920"/>
            <a:ext cx="1554480" cy="365760"/>
          </a:xfrm>
          <a:prstGeom prst="roundRect">
            <a:avLst>
              <a:gd fmla="val 20000" name="adj"/>
            </a:avLst>
          </a:prstGeom>
          <a:solidFill>
            <a:srgbClr val="00B050">
              <a:alpha val="30196"/>
            </a:srgbClr>
          </a:solidFill>
          <a:ln cap="flat" cmpd="sng" w="127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1"/>
          <p:cNvSpPr/>
          <p:nvPr/>
        </p:nvSpPr>
        <p:spPr>
          <a:xfrm>
            <a:off x="320040" y="507492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Login &amp; Onboarding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1"/>
          <p:cNvSpPr/>
          <p:nvPr/>
        </p:nvSpPr>
        <p:spPr>
          <a:xfrm>
            <a:off x="2057400" y="5074920"/>
            <a:ext cx="1554480" cy="365760"/>
          </a:xfrm>
          <a:prstGeom prst="roundRect">
            <a:avLst>
              <a:gd fmla="val 20000" name="adj"/>
            </a:avLst>
          </a:prstGeom>
          <a:solidFill>
            <a:srgbClr val="00B050">
              <a:alpha val="30196"/>
            </a:srgbClr>
          </a:solidFill>
          <a:ln cap="flat" cmpd="sng" w="127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1"/>
          <p:cNvSpPr/>
          <p:nvPr/>
        </p:nvSpPr>
        <p:spPr>
          <a:xfrm>
            <a:off x="2057400" y="507492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CHW Matching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1"/>
          <p:cNvSpPr/>
          <p:nvPr/>
        </p:nvSpPr>
        <p:spPr>
          <a:xfrm>
            <a:off x="3794760" y="5074920"/>
            <a:ext cx="1554480" cy="365760"/>
          </a:xfrm>
          <a:prstGeom prst="roundRect">
            <a:avLst>
              <a:gd fmla="val 20000" name="adj"/>
            </a:avLst>
          </a:prstGeom>
          <a:solidFill>
            <a:srgbClr val="00B050">
              <a:alpha val="30196"/>
            </a:srgbClr>
          </a:solidFill>
          <a:ln cap="flat" cmpd="sng" w="127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1"/>
          <p:cNvSpPr/>
          <p:nvPr/>
        </p:nvSpPr>
        <p:spPr>
          <a:xfrm>
            <a:off x="3794760" y="507492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Local Resources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1"/>
          <p:cNvSpPr/>
          <p:nvPr/>
        </p:nvSpPr>
        <p:spPr>
          <a:xfrm>
            <a:off x="5532120" y="5074920"/>
            <a:ext cx="1554480" cy="365760"/>
          </a:xfrm>
          <a:prstGeom prst="roundRect">
            <a:avLst>
              <a:gd fmla="val 20000" name="adj"/>
            </a:avLst>
          </a:prstGeom>
          <a:solidFill>
            <a:srgbClr val="00B050">
              <a:alpha val="30196"/>
            </a:srgbClr>
          </a:solidFill>
          <a:ln cap="flat" cmpd="sng" w="127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1"/>
          <p:cNvSpPr/>
          <p:nvPr/>
        </p:nvSpPr>
        <p:spPr>
          <a:xfrm>
            <a:off x="5532120" y="507492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Goal Roadmap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green logo with a letter&#10;&#10;Description automatically generated" id="47" name="Google Shape;47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41322" y="1107412"/>
            <a:ext cx="666523" cy="6665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BF8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00B050"/>
          </a:solidFill>
          <a:ln cap="flat" cmpd="sng" w="127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365760" y="0"/>
            <a:ext cx="4572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lang="en-US" sz="3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Login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8229600" y="0"/>
            <a:ext cx="3840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0F0D0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D0F0D0"/>
                </a:solidFill>
                <a:latin typeface="Calibri"/>
                <a:ea typeface="Calibri"/>
                <a:cs typeface="Calibri"/>
                <a:sym typeface="Calibri"/>
              </a:rPr>
              <a:t>Onboarding Flow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320040" y="960120"/>
            <a:ext cx="2651760" cy="329184"/>
          </a:xfrm>
          <a:prstGeom prst="roundRect">
            <a:avLst>
              <a:gd fmla="val 22222" name="adj"/>
            </a:avLst>
          </a:prstGeom>
          <a:solidFill>
            <a:srgbClr val="E8F5E9"/>
          </a:solidFill>
          <a:ln cap="flat" cmpd="sng" w="127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320040" y="960120"/>
            <a:ext cx="2651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1  Login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3200400" y="960120"/>
            <a:ext cx="2651760" cy="329184"/>
          </a:xfrm>
          <a:prstGeom prst="roundRect">
            <a:avLst>
              <a:gd fmla="val 22222" name="adj"/>
            </a:avLst>
          </a:prstGeom>
          <a:solidFill>
            <a:srgbClr val="E8F5E9"/>
          </a:solidFill>
          <a:ln cap="flat" cmpd="sng" w="127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3200400" y="960120"/>
            <a:ext cx="2651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2  Basic Info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6080760" y="960120"/>
            <a:ext cx="2651760" cy="329184"/>
          </a:xfrm>
          <a:prstGeom prst="roundRect">
            <a:avLst>
              <a:gd fmla="val 22222" name="adj"/>
            </a:avLst>
          </a:prstGeom>
          <a:solidFill>
            <a:srgbClr val="F0F0F0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6080760" y="960120"/>
            <a:ext cx="2651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3  Health Assessment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8961120" y="960120"/>
            <a:ext cx="2651760" cy="329184"/>
          </a:xfrm>
          <a:prstGeom prst="roundRect">
            <a:avLst>
              <a:gd fmla="val 22222" name="adj"/>
            </a:avLst>
          </a:prstGeom>
          <a:solidFill>
            <a:srgbClr val="F0F0F0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8961120" y="960120"/>
            <a:ext cx="2651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4  Insurance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4" name="Google Shape;64;p2"/>
          <p:cNvPicPr preferRelativeResize="0"/>
          <p:nvPr/>
        </p:nvPicPr>
        <p:blipFill rotWithShape="1">
          <a:blip r:embed="rId3">
            <a:alphaModFix/>
          </a:blip>
          <a:srcRect b="10365" l="17143" r="0" t="0"/>
          <a:stretch/>
        </p:blipFill>
        <p:spPr>
          <a:xfrm>
            <a:off x="4455721" y="1355386"/>
            <a:ext cx="3250078" cy="5466038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2"/>
          <p:cNvSpPr/>
          <p:nvPr/>
        </p:nvSpPr>
        <p:spPr>
          <a:xfrm>
            <a:off x="5054009" y="1939059"/>
            <a:ext cx="2083981" cy="4205177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5054009" y="1939059"/>
            <a:ext cx="2083981" cy="841035"/>
          </a:xfrm>
          <a:prstGeom prst="rect">
            <a:avLst/>
          </a:prstGeom>
          <a:solidFill>
            <a:srgbClr val="00B050"/>
          </a:solidFill>
          <a:ln cap="flat" cmpd="sng" w="127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5766816" y="2030499"/>
            <a:ext cx="658368" cy="658368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5054009" y="2707155"/>
            <a:ext cx="2083981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Compass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5054009" y="2871535"/>
            <a:ext cx="2083981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Welcome Back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5054009" y="3164143"/>
            <a:ext cx="2083981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Sign in to continue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5154593" y="3452923"/>
            <a:ext cx="1882813" cy="329184"/>
          </a:xfrm>
          <a:prstGeom prst="roundRect">
            <a:avLst>
              <a:gd fmla="val 16667" name="adj"/>
            </a:avLst>
          </a:prstGeom>
          <a:solidFill>
            <a:srgbClr val="F5F5F5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5246033" y="3452923"/>
            <a:ext cx="1882813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Username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5154593" y="3957544"/>
            <a:ext cx="1882813" cy="329184"/>
          </a:xfrm>
          <a:prstGeom prst="roundRect">
            <a:avLst>
              <a:gd fmla="val 16667" name="adj"/>
            </a:avLst>
          </a:prstGeom>
          <a:solidFill>
            <a:srgbClr val="F5F5F5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5246033" y="3957544"/>
            <a:ext cx="1882813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Password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2"/>
          <p:cNvSpPr/>
          <p:nvPr/>
        </p:nvSpPr>
        <p:spPr>
          <a:xfrm>
            <a:off x="5154593" y="4504217"/>
            <a:ext cx="1882813" cy="329184"/>
          </a:xfrm>
          <a:prstGeom prst="roundRect">
            <a:avLst>
              <a:gd fmla="val 16667" name="adj"/>
            </a:avLst>
          </a:prstGeom>
          <a:solidFill>
            <a:srgbClr val="00B050"/>
          </a:solidFill>
          <a:ln cap="flat" cmpd="sng" w="127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2"/>
          <p:cNvSpPr/>
          <p:nvPr/>
        </p:nvSpPr>
        <p:spPr>
          <a:xfrm>
            <a:off x="5154593" y="4504217"/>
            <a:ext cx="1882813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LOG IN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5324501" y="5008838"/>
            <a:ext cx="274320" cy="274320"/>
          </a:xfrm>
          <a:prstGeom prst="ellipse">
            <a:avLst/>
          </a:prstGeom>
          <a:solidFill>
            <a:srgbClr val="00B050"/>
          </a:solidFill>
          <a:ln cap="flat" cmpd="sng" w="127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2"/>
          <p:cNvSpPr/>
          <p:nvPr/>
        </p:nvSpPr>
        <p:spPr>
          <a:xfrm>
            <a:off x="5141621" y="5319734"/>
            <a:ext cx="65836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Basic Info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2"/>
          <p:cNvSpPr/>
          <p:nvPr/>
        </p:nvSpPr>
        <p:spPr>
          <a:xfrm>
            <a:off x="5949696" y="5008838"/>
            <a:ext cx="274320" cy="274320"/>
          </a:xfrm>
          <a:prstGeom prst="ellipse">
            <a:avLst/>
          </a:prstGeom>
          <a:solidFill>
            <a:srgbClr val="DDDDDD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2"/>
          <p:cNvSpPr/>
          <p:nvPr/>
        </p:nvSpPr>
        <p:spPr>
          <a:xfrm>
            <a:off x="5766816" y="5319734"/>
            <a:ext cx="65836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Health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2"/>
          <p:cNvSpPr/>
          <p:nvPr/>
        </p:nvSpPr>
        <p:spPr>
          <a:xfrm>
            <a:off x="6574890" y="5008838"/>
            <a:ext cx="274320" cy="274320"/>
          </a:xfrm>
          <a:prstGeom prst="ellipse">
            <a:avLst/>
          </a:prstGeom>
          <a:solidFill>
            <a:srgbClr val="DDDDDD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2"/>
          <p:cNvSpPr/>
          <p:nvPr/>
        </p:nvSpPr>
        <p:spPr>
          <a:xfrm>
            <a:off x="6392010" y="5319734"/>
            <a:ext cx="65836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Insurance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2"/>
          <p:cNvSpPr/>
          <p:nvPr/>
        </p:nvSpPr>
        <p:spPr>
          <a:xfrm>
            <a:off x="5054009" y="5539190"/>
            <a:ext cx="2083981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Enter Basic Health Info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2"/>
          <p:cNvSpPr/>
          <p:nvPr/>
        </p:nvSpPr>
        <p:spPr>
          <a:xfrm>
            <a:off x="5154593" y="5807822"/>
            <a:ext cx="1882813" cy="256032"/>
          </a:xfrm>
          <a:prstGeom prst="roundRect">
            <a:avLst>
              <a:gd fmla="val 17857" name="adj"/>
            </a:avLst>
          </a:prstGeom>
          <a:solidFill>
            <a:srgbClr val="E8F5E9"/>
          </a:solidFill>
          <a:ln cap="flat" cmpd="sng" w="127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2"/>
          <p:cNvSpPr/>
          <p:nvPr/>
        </p:nvSpPr>
        <p:spPr>
          <a:xfrm>
            <a:off x="5154593" y="5807822"/>
            <a:ext cx="188281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Connect Insurance Provider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2"/>
          <p:cNvSpPr/>
          <p:nvPr/>
        </p:nvSpPr>
        <p:spPr>
          <a:xfrm>
            <a:off x="274320" y="1554480"/>
            <a:ext cx="3566160" cy="36576"/>
          </a:xfrm>
          <a:prstGeom prst="rect">
            <a:avLst/>
          </a:prstGeom>
          <a:solidFill>
            <a:srgbClr val="00B050"/>
          </a:solidFill>
          <a:ln cap="flat" cmpd="sng" w="127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2"/>
          <p:cNvSpPr/>
          <p:nvPr/>
        </p:nvSpPr>
        <p:spPr>
          <a:xfrm>
            <a:off x="274320" y="1636776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Step 1 — Sign In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2"/>
          <p:cNvSpPr/>
          <p:nvPr/>
        </p:nvSpPr>
        <p:spPr>
          <a:xfrm>
            <a:off x="274320" y="1938528"/>
            <a:ext cx="35661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Username &amp; password login to securely access your Compass account.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2"/>
          <p:cNvSpPr/>
          <p:nvPr/>
        </p:nvSpPr>
        <p:spPr>
          <a:xfrm>
            <a:off x="274320" y="2606040"/>
            <a:ext cx="3566160" cy="36576"/>
          </a:xfrm>
          <a:prstGeom prst="rect">
            <a:avLst/>
          </a:prstGeom>
          <a:solidFill>
            <a:srgbClr val="00B050"/>
          </a:solidFill>
          <a:ln cap="flat" cmpd="sng" w="127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2"/>
          <p:cNvSpPr/>
          <p:nvPr/>
        </p:nvSpPr>
        <p:spPr>
          <a:xfrm>
            <a:off x="274320" y="2688336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Step 2 — Basic Health Info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2"/>
          <p:cNvSpPr/>
          <p:nvPr/>
        </p:nvSpPr>
        <p:spPr>
          <a:xfrm>
            <a:off x="274320" y="2990088"/>
            <a:ext cx="35661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User enters age, weight, and height to personalize the experience.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2"/>
          <p:cNvSpPr/>
          <p:nvPr/>
        </p:nvSpPr>
        <p:spPr>
          <a:xfrm>
            <a:off x="274320" y="3657600"/>
            <a:ext cx="3566160" cy="36576"/>
          </a:xfrm>
          <a:prstGeom prst="rect">
            <a:avLst/>
          </a:prstGeom>
          <a:solidFill>
            <a:srgbClr val="00B050"/>
          </a:solidFill>
          <a:ln cap="flat" cmpd="sng" w="127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2"/>
          <p:cNvSpPr/>
          <p:nvPr/>
        </p:nvSpPr>
        <p:spPr>
          <a:xfrm>
            <a:off x="274320" y="3739896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Step 3 — Health Assessment (SDOH)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274320" y="4041648"/>
            <a:ext cx="35661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Questionnaire covering Housing, Transportation, Food, Employment &amp; more.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"/>
          <p:cNvSpPr/>
          <p:nvPr/>
        </p:nvSpPr>
        <p:spPr>
          <a:xfrm>
            <a:off x="8321040" y="1554480"/>
            <a:ext cx="3657600" cy="36576"/>
          </a:xfrm>
          <a:prstGeom prst="rect">
            <a:avLst/>
          </a:prstGeom>
          <a:solidFill>
            <a:srgbClr val="00B050"/>
          </a:solidFill>
          <a:ln cap="flat" cmpd="sng" w="127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/>
          <p:nvPr/>
        </p:nvSpPr>
        <p:spPr>
          <a:xfrm>
            <a:off x="8321040" y="1636776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Step 4 — Insurance Connection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/>
          <p:nvPr/>
        </p:nvSpPr>
        <p:spPr>
          <a:xfrm>
            <a:off x="8321040" y="1938528"/>
            <a:ext cx="36576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Securely link your insurance provider to unlock covered services.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"/>
          <p:cNvSpPr/>
          <p:nvPr/>
        </p:nvSpPr>
        <p:spPr>
          <a:xfrm>
            <a:off x="8321040" y="2606040"/>
            <a:ext cx="3657600" cy="36576"/>
          </a:xfrm>
          <a:prstGeom prst="rect">
            <a:avLst/>
          </a:prstGeom>
          <a:solidFill>
            <a:srgbClr val="00B050"/>
          </a:solidFill>
          <a:ln cap="flat" cmpd="sng" w="127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"/>
          <p:cNvSpPr/>
          <p:nvPr/>
        </p:nvSpPr>
        <p:spPr>
          <a:xfrm>
            <a:off x="8321040" y="2688336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Points System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/>
          <p:nvPr/>
        </p:nvSpPr>
        <p:spPr>
          <a:xfrm>
            <a:off x="8321040" y="2990088"/>
            <a:ext cx="36576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Engagement points are awarded immediately upon account creation.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/>
          <p:nvPr/>
        </p:nvSpPr>
        <p:spPr>
          <a:xfrm>
            <a:off x="8321040" y="3657600"/>
            <a:ext cx="3657600" cy="36576"/>
          </a:xfrm>
          <a:prstGeom prst="rect">
            <a:avLst/>
          </a:prstGeom>
          <a:solidFill>
            <a:srgbClr val="00B050"/>
          </a:solidFill>
          <a:ln cap="flat" cmpd="sng" w="127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/>
          <p:cNvSpPr/>
          <p:nvPr/>
        </p:nvSpPr>
        <p:spPr>
          <a:xfrm>
            <a:off x="8321040" y="3739896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Preventive Health Tips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"/>
          <p:cNvSpPr/>
          <p:nvPr/>
        </p:nvSpPr>
        <p:spPr>
          <a:xfrm>
            <a:off x="8321040" y="4041648"/>
            <a:ext cx="36576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Demographic-based insights surface relevant health facts from day one.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green logo with a letter&#10;&#10;Description automatically generated" id="104" name="Google Shape;104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31922" y="2024438"/>
            <a:ext cx="728154" cy="7281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BF8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00B050"/>
          </a:solidFill>
          <a:ln cap="flat" cmpd="sng" w="127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365760" y="0"/>
            <a:ext cx="5486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lang="en-US" sz="3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Compass Selection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8229600" y="0"/>
            <a:ext cx="3840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0F0D0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D0F0D0"/>
                </a:solidFill>
                <a:latin typeface="Calibri"/>
                <a:ea typeface="Calibri"/>
                <a:cs typeface="Calibri"/>
                <a:sym typeface="Calibri"/>
              </a:rPr>
              <a:t>Matching &amp; Dashboard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3" name="Google Shape;113;p3"/>
          <p:cNvPicPr preferRelativeResize="0"/>
          <p:nvPr/>
        </p:nvPicPr>
        <p:blipFill rotWithShape="1">
          <a:blip r:embed="rId3">
            <a:alphaModFix/>
          </a:blip>
          <a:srcRect b="11188" l="17391" r="0" t="0"/>
          <a:stretch/>
        </p:blipFill>
        <p:spPr>
          <a:xfrm>
            <a:off x="1950721" y="960120"/>
            <a:ext cx="3901440" cy="573121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3"/>
          <p:cNvSpPr/>
          <p:nvPr/>
        </p:nvSpPr>
        <p:spPr>
          <a:xfrm>
            <a:off x="2858032" y="1622528"/>
            <a:ext cx="2262608" cy="45656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2858032" y="1622528"/>
            <a:ext cx="2262608" cy="776155"/>
          </a:xfrm>
          <a:prstGeom prst="rect">
            <a:avLst/>
          </a:prstGeom>
          <a:solidFill>
            <a:srgbClr val="00B050"/>
          </a:solidFill>
          <a:ln cap="flat" cmpd="sng" w="127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2858032" y="1668248"/>
            <a:ext cx="226260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Hello, User! 👋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2858032" y="1924280"/>
            <a:ext cx="22626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0F0D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D0F0D0"/>
                </a:solidFill>
                <a:latin typeface="Calibri"/>
                <a:ea typeface="Calibri"/>
                <a:cs typeface="Calibri"/>
                <a:sym typeface="Calibri"/>
              </a:rPr>
              <a:t>Your CHW is ready to help</a:t>
            </a:r>
            <a:endParaRPr/>
          </a:p>
        </p:txBody>
      </p:sp>
      <p:sp>
        <p:nvSpPr>
          <p:cNvPr id="118" name="Google Shape;118;p3"/>
          <p:cNvSpPr/>
          <p:nvPr/>
        </p:nvSpPr>
        <p:spPr>
          <a:xfrm>
            <a:off x="2931184" y="2471836"/>
            <a:ext cx="22626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Recommended CHWs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/>
          <p:nvPr/>
        </p:nvSpPr>
        <p:spPr>
          <a:xfrm>
            <a:off x="2912896" y="2700436"/>
            <a:ext cx="2152880" cy="76809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"/>
          <p:cNvSpPr/>
          <p:nvPr/>
        </p:nvSpPr>
        <p:spPr>
          <a:xfrm>
            <a:off x="2967760" y="2791876"/>
            <a:ext cx="457200" cy="457200"/>
          </a:xfrm>
          <a:prstGeom prst="ellipse">
            <a:avLst/>
          </a:prstGeom>
          <a:solidFill>
            <a:srgbClr val="00B050"/>
          </a:solidFill>
          <a:ln cap="flat" cmpd="sng" w="127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2967760" y="279187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3"/>
          <p:cNvSpPr/>
          <p:nvPr/>
        </p:nvSpPr>
        <p:spPr>
          <a:xfrm>
            <a:off x="3479824" y="2773588"/>
            <a:ext cx="8910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CHW Profile 1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3"/>
          <p:cNvSpPr/>
          <p:nvPr/>
        </p:nvSpPr>
        <p:spPr>
          <a:xfrm>
            <a:off x="3455937" y="3044746"/>
            <a:ext cx="89100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Housing · Food Security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3479824" y="3253116"/>
            <a:ext cx="1473672" cy="121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⭐ 4.8  ·  Available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"/>
          <p:cNvSpPr/>
          <p:nvPr/>
        </p:nvSpPr>
        <p:spPr>
          <a:xfrm>
            <a:off x="4297681" y="2901604"/>
            <a:ext cx="658368" cy="256032"/>
          </a:xfrm>
          <a:prstGeom prst="roundRect">
            <a:avLst>
              <a:gd fmla="val 17857" name="adj"/>
            </a:avLst>
          </a:prstGeom>
          <a:solidFill>
            <a:srgbClr val="00B050"/>
          </a:solidFill>
          <a:ln cap="flat" cmpd="sng" w="127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3"/>
          <p:cNvSpPr/>
          <p:nvPr/>
        </p:nvSpPr>
        <p:spPr>
          <a:xfrm>
            <a:off x="4297681" y="2901604"/>
            <a:ext cx="6583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Select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3"/>
          <p:cNvSpPr/>
          <p:nvPr/>
        </p:nvSpPr>
        <p:spPr>
          <a:xfrm>
            <a:off x="2912896" y="3505108"/>
            <a:ext cx="2152880" cy="7132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3"/>
          <p:cNvSpPr/>
          <p:nvPr/>
        </p:nvSpPr>
        <p:spPr>
          <a:xfrm>
            <a:off x="2967760" y="3596548"/>
            <a:ext cx="457200" cy="457200"/>
          </a:xfrm>
          <a:prstGeom prst="ellipse">
            <a:avLst/>
          </a:prstGeom>
          <a:solidFill>
            <a:srgbClr val="00B050"/>
          </a:solidFill>
          <a:ln cap="flat" cmpd="sng" w="127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3"/>
          <p:cNvSpPr/>
          <p:nvPr/>
        </p:nvSpPr>
        <p:spPr>
          <a:xfrm>
            <a:off x="2967760" y="359654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3"/>
          <p:cNvSpPr/>
          <p:nvPr/>
        </p:nvSpPr>
        <p:spPr>
          <a:xfrm>
            <a:off x="3479824" y="3578260"/>
            <a:ext cx="8910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CHW Profile 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3"/>
          <p:cNvSpPr/>
          <p:nvPr/>
        </p:nvSpPr>
        <p:spPr>
          <a:xfrm>
            <a:off x="3479824" y="3849418"/>
            <a:ext cx="89100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Mental Health · Transport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3"/>
          <p:cNvSpPr/>
          <p:nvPr/>
        </p:nvSpPr>
        <p:spPr>
          <a:xfrm>
            <a:off x="3479824" y="4001387"/>
            <a:ext cx="14736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⭐ 4.7  ·  Available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3"/>
          <p:cNvSpPr/>
          <p:nvPr/>
        </p:nvSpPr>
        <p:spPr>
          <a:xfrm>
            <a:off x="4297681" y="3706276"/>
            <a:ext cx="658368" cy="256032"/>
          </a:xfrm>
          <a:prstGeom prst="roundRect">
            <a:avLst>
              <a:gd fmla="val 17857" name="adj"/>
            </a:avLst>
          </a:prstGeom>
          <a:solidFill>
            <a:srgbClr val="00B050"/>
          </a:solidFill>
          <a:ln cap="flat" cmpd="sng" w="127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3"/>
          <p:cNvSpPr/>
          <p:nvPr/>
        </p:nvSpPr>
        <p:spPr>
          <a:xfrm>
            <a:off x="4297681" y="3706276"/>
            <a:ext cx="6583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Select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3"/>
          <p:cNvSpPr/>
          <p:nvPr/>
        </p:nvSpPr>
        <p:spPr>
          <a:xfrm>
            <a:off x="2912896" y="4337212"/>
            <a:ext cx="2152880" cy="548640"/>
          </a:xfrm>
          <a:prstGeom prst="rect">
            <a:avLst/>
          </a:prstGeom>
          <a:solidFill>
            <a:srgbClr val="E8F5E9"/>
          </a:solidFill>
          <a:ln cap="flat" cmpd="sng" w="127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3"/>
          <p:cNvSpPr/>
          <p:nvPr/>
        </p:nvSpPr>
        <p:spPr>
          <a:xfrm>
            <a:off x="2967760" y="4382932"/>
            <a:ext cx="198828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A35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07A35"/>
                </a:solidFill>
                <a:latin typeface="Calibri"/>
                <a:ea typeface="Calibri"/>
                <a:cs typeface="Calibri"/>
                <a:sym typeface="Calibri"/>
              </a:rPr>
              <a:t>💡 Did You Know?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3"/>
          <p:cNvSpPr/>
          <p:nvPr/>
        </p:nvSpPr>
        <p:spPr>
          <a:xfrm>
            <a:off x="2967760" y="4593244"/>
            <a:ext cx="198828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Your insurance covers preventive screenings at no cost!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3"/>
          <p:cNvSpPr/>
          <p:nvPr/>
        </p:nvSpPr>
        <p:spPr>
          <a:xfrm>
            <a:off x="2931184" y="4940716"/>
            <a:ext cx="22626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Local Resources Near You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3"/>
          <p:cNvSpPr/>
          <p:nvPr/>
        </p:nvSpPr>
        <p:spPr>
          <a:xfrm>
            <a:off x="2931184" y="5178460"/>
            <a:ext cx="1021576" cy="310896"/>
          </a:xfrm>
          <a:prstGeom prst="roundRect">
            <a:avLst>
              <a:gd fmla="val 17647" name="adj"/>
            </a:avLst>
          </a:prstGeom>
          <a:solidFill>
            <a:srgbClr val="00B050"/>
          </a:solidFill>
          <a:ln cap="flat" cmpd="sng" w="127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3"/>
          <p:cNvSpPr/>
          <p:nvPr/>
        </p:nvSpPr>
        <p:spPr>
          <a:xfrm>
            <a:off x="2931184" y="5178460"/>
            <a:ext cx="102157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Healthcare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3"/>
          <p:cNvSpPr/>
          <p:nvPr/>
        </p:nvSpPr>
        <p:spPr>
          <a:xfrm>
            <a:off x="4025912" y="5178460"/>
            <a:ext cx="1021576" cy="310896"/>
          </a:xfrm>
          <a:prstGeom prst="roundRect">
            <a:avLst>
              <a:gd fmla="val 17647" name="adj"/>
            </a:avLst>
          </a:prstGeom>
          <a:solidFill>
            <a:srgbClr val="FFFFFF"/>
          </a:solidFill>
          <a:ln cap="flat" cmpd="sng" w="127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3"/>
          <p:cNvSpPr/>
          <p:nvPr/>
        </p:nvSpPr>
        <p:spPr>
          <a:xfrm>
            <a:off x="4025912" y="5178460"/>
            <a:ext cx="102157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Food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3"/>
          <p:cNvSpPr/>
          <p:nvPr/>
        </p:nvSpPr>
        <p:spPr>
          <a:xfrm>
            <a:off x="2931184" y="5580796"/>
            <a:ext cx="1021576" cy="310896"/>
          </a:xfrm>
          <a:prstGeom prst="roundRect">
            <a:avLst>
              <a:gd fmla="val 17647" name="adj"/>
            </a:avLst>
          </a:prstGeom>
          <a:solidFill>
            <a:srgbClr val="FFFFFF"/>
          </a:solidFill>
          <a:ln cap="flat" cmpd="sng" w="127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3"/>
          <p:cNvSpPr/>
          <p:nvPr/>
        </p:nvSpPr>
        <p:spPr>
          <a:xfrm>
            <a:off x="2931184" y="5580796"/>
            <a:ext cx="102157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Housing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3"/>
          <p:cNvSpPr/>
          <p:nvPr/>
        </p:nvSpPr>
        <p:spPr>
          <a:xfrm>
            <a:off x="4025912" y="5580796"/>
            <a:ext cx="1021576" cy="310896"/>
          </a:xfrm>
          <a:prstGeom prst="roundRect">
            <a:avLst>
              <a:gd fmla="val 17647" name="adj"/>
            </a:avLst>
          </a:prstGeom>
          <a:solidFill>
            <a:srgbClr val="FFFFFF"/>
          </a:solidFill>
          <a:ln cap="flat" cmpd="sng" w="127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"/>
          <p:cNvSpPr/>
          <p:nvPr/>
        </p:nvSpPr>
        <p:spPr>
          <a:xfrm>
            <a:off x="4025912" y="5580796"/>
            <a:ext cx="102157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Transport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3"/>
          <p:cNvSpPr/>
          <p:nvPr/>
        </p:nvSpPr>
        <p:spPr>
          <a:xfrm>
            <a:off x="1645920" y="7013873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Home Dashboard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8" name="Google Shape;148;p3"/>
          <p:cNvPicPr preferRelativeResize="0"/>
          <p:nvPr/>
        </p:nvPicPr>
        <p:blipFill rotWithShape="1">
          <a:blip r:embed="rId3">
            <a:alphaModFix/>
          </a:blip>
          <a:srcRect b="12624" l="15178" r="0" t="0"/>
          <a:stretch/>
        </p:blipFill>
        <p:spPr>
          <a:xfrm>
            <a:off x="6144767" y="960121"/>
            <a:ext cx="4096514" cy="5706638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3"/>
          <p:cNvSpPr/>
          <p:nvPr/>
        </p:nvSpPr>
        <p:spPr>
          <a:xfrm>
            <a:off x="7126224" y="1585825"/>
            <a:ext cx="2262608" cy="45656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3"/>
          <p:cNvSpPr/>
          <p:nvPr/>
        </p:nvSpPr>
        <p:spPr>
          <a:xfrm>
            <a:off x="7126224" y="1585825"/>
            <a:ext cx="2262608" cy="684843"/>
          </a:xfrm>
          <a:prstGeom prst="rect">
            <a:avLst/>
          </a:prstGeom>
          <a:solidFill>
            <a:srgbClr val="00B050"/>
          </a:solidFill>
          <a:ln cap="flat" cmpd="sng" w="127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3"/>
          <p:cNvSpPr/>
          <p:nvPr/>
        </p:nvSpPr>
        <p:spPr>
          <a:xfrm>
            <a:off x="7126224" y="1631545"/>
            <a:ext cx="226260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Find Your CHW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3"/>
          <p:cNvSpPr/>
          <p:nvPr/>
        </p:nvSpPr>
        <p:spPr>
          <a:xfrm>
            <a:off x="7126224" y="1860145"/>
            <a:ext cx="226260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0F0D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D0F0D0"/>
                </a:solidFill>
                <a:latin typeface="Calibri"/>
                <a:ea typeface="Calibri"/>
                <a:cs typeface="Calibri"/>
                <a:sym typeface="Calibri"/>
              </a:rPr>
              <a:t>Matched to your needs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3"/>
          <p:cNvSpPr/>
          <p:nvPr/>
        </p:nvSpPr>
        <p:spPr>
          <a:xfrm>
            <a:off x="7181088" y="2325532"/>
            <a:ext cx="519932" cy="237744"/>
          </a:xfrm>
          <a:prstGeom prst="roundRect">
            <a:avLst>
              <a:gd fmla="val 23077" name="adj"/>
            </a:avLst>
          </a:prstGeom>
          <a:solidFill>
            <a:srgbClr val="00B050"/>
          </a:solidFill>
          <a:ln cap="flat" cmpd="sng" w="127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3"/>
          <p:cNvSpPr/>
          <p:nvPr/>
        </p:nvSpPr>
        <p:spPr>
          <a:xfrm>
            <a:off x="7181088" y="2325532"/>
            <a:ext cx="51993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All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3"/>
          <p:cNvSpPr/>
          <p:nvPr/>
        </p:nvSpPr>
        <p:spPr>
          <a:xfrm>
            <a:off x="7746740" y="2325532"/>
            <a:ext cx="519932" cy="237744"/>
          </a:xfrm>
          <a:prstGeom prst="roundRect">
            <a:avLst>
              <a:gd fmla="val 23077" name="adj"/>
            </a:avLst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3"/>
          <p:cNvSpPr/>
          <p:nvPr/>
        </p:nvSpPr>
        <p:spPr>
          <a:xfrm>
            <a:off x="7746740" y="2325532"/>
            <a:ext cx="51993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Housing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3"/>
          <p:cNvSpPr/>
          <p:nvPr/>
        </p:nvSpPr>
        <p:spPr>
          <a:xfrm>
            <a:off x="8312392" y="2325532"/>
            <a:ext cx="519932" cy="237744"/>
          </a:xfrm>
          <a:prstGeom prst="roundRect">
            <a:avLst>
              <a:gd fmla="val 23077" name="adj"/>
            </a:avLst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3"/>
          <p:cNvSpPr/>
          <p:nvPr/>
        </p:nvSpPr>
        <p:spPr>
          <a:xfrm>
            <a:off x="8312392" y="2325532"/>
            <a:ext cx="51993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Food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3"/>
          <p:cNvSpPr/>
          <p:nvPr/>
        </p:nvSpPr>
        <p:spPr>
          <a:xfrm>
            <a:off x="8878045" y="2325532"/>
            <a:ext cx="519932" cy="237744"/>
          </a:xfrm>
          <a:prstGeom prst="roundRect">
            <a:avLst>
              <a:gd fmla="val 23077" name="adj"/>
            </a:avLst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3"/>
          <p:cNvSpPr/>
          <p:nvPr/>
        </p:nvSpPr>
        <p:spPr>
          <a:xfrm>
            <a:off x="8878045" y="2325532"/>
            <a:ext cx="51993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Mental Health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3"/>
          <p:cNvSpPr/>
          <p:nvPr/>
        </p:nvSpPr>
        <p:spPr>
          <a:xfrm>
            <a:off x="7181088" y="2618140"/>
            <a:ext cx="2152880" cy="822960"/>
          </a:xfrm>
          <a:prstGeom prst="rect">
            <a:avLst/>
          </a:prstGeom>
          <a:solidFill>
            <a:srgbClr val="E8F5E9"/>
          </a:solidFill>
          <a:ln cap="flat" cmpd="sng" w="127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3"/>
          <p:cNvSpPr/>
          <p:nvPr/>
        </p:nvSpPr>
        <p:spPr>
          <a:xfrm>
            <a:off x="7181088" y="2755300"/>
            <a:ext cx="2152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📍 Map of Local Healthcare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3"/>
          <p:cNvSpPr/>
          <p:nvPr/>
        </p:nvSpPr>
        <p:spPr>
          <a:xfrm>
            <a:off x="7181088" y="3020476"/>
            <a:ext cx="2152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Options &amp; Specializations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3"/>
          <p:cNvSpPr/>
          <p:nvPr/>
        </p:nvSpPr>
        <p:spPr>
          <a:xfrm>
            <a:off x="7199376" y="3495964"/>
            <a:ext cx="22626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Available CHWs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3"/>
          <p:cNvSpPr/>
          <p:nvPr/>
        </p:nvSpPr>
        <p:spPr>
          <a:xfrm>
            <a:off x="7181088" y="3733708"/>
            <a:ext cx="2152880" cy="62179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3"/>
          <p:cNvSpPr/>
          <p:nvPr/>
        </p:nvSpPr>
        <p:spPr>
          <a:xfrm>
            <a:off x="7235952" y="3825148"/>
            <a:ext cx="384048" cy="384048"/>
          </a:xfrm>
          <a:prstGeom prst="ellipse">
            <a:avLst/>
          </a:prstGeom>
          <a:solidFill>
            <a:srgbClr val="00B050"/>
          </a:solidFill>
          <a:ln cap="flat" cmpd="sng" w="127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3"/>
          <p:cNvSpPr/>
          <p:nvPr/>
        </p:nvSpPr>
        <p:spPr>
          <a:xfrm>
            <a:off x="7235952" y="382514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C1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3"/>
          <p:cNvSpPr/>
          <p:nvPr/>
        </p:nvSpPr>
        <p:spPr>
          <a:xfrm>
            <a:off x="7674864" y="3788572"/>
            <a:ext cx="8910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CHW Name 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3"/>
          <p:cNvSpPr/>
          <p:nvPr/>
        </p:nvSpPr>
        <p:spPr>
          <a:xfrm>
            <a:off x="7674864" y="3971452"/>
            <a:ext cx="89100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Housing · Food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3"/>
          <p:cNvSpPr/>
          <p:nvPr/>
        </p:nvSpPr>
        <p:spPr>
          <a:xfrm>
            <a:off x="7674864" y="4136044"/>
            <a:ext cx="891008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⭐ 4.8  ·  3 yrs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3"/>
          <p:cNvSpPr/>
          <p:nvPr/>
        </p:nvSpPr>
        <p:spPr>
          <a:xfrm>
            <a:off x="8511009" y="3916588"/>
            <a:ext cx="713232" cy="237744"/>
          </a:xfrm>
          <a:prstGeom prst="roundRect">
            <a:avLst>
              <a:gd fmla="val 19231" name="adj"/>
            </a:avLst>
          </a:prstGeom>
          <a:solidFill>
            <a:srgbClr val="00B050"/>
          </a:solidFill>
          <a:ln cap="flat" cmpd="sng" w="127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3"/>
          <p:cNvSpPr/>
          <p:nvPr/>
        </p:nvSpPr>
        <p:spPr>
          <a:xfrm>
            <a:off x="8511009" y="3916588"/>
            <a:ext cx="71323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Schedule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3"/>
          <p:cNvSpPr/>
          <p:nvPr/>
        </p:nvSpPr>
        <p:spPr>
          <a:xfrm>
            <a:off x="7181088" y="4446940"/>
            <a:ext cx="2152880" cy="62179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3"/>
          <p:cNvSpPr/>
          <p:nvPr/>
        </p:nvSpPr>
        <p:spPr>
          <a:xfrm>
            <a:off x="7235952" y="4538380"/>
            <a:ext cx="384048" cy="384048"/>
          </a:xfrm>
          <a:prstGeom prst="ellipse">
            <a:avLst/>
          </a:prstGeom>
          <a:solidFill>
            <a:srgbClr val="00B050"/>
          </a:solidFill>
          <a:ln cap="flat" cmpd="sng" w="127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3"/>
          <p:cNvSpPr/>
          <p:nvPr/>
        </p:nvSpPr>
        <p:spPr>
          <a:xfrm>
            <a:off x="7235952" y="453838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3"/>
          <p:cNvSpPr/>
          <p:nvPr/>
        </p:nvSpPr>
        <p:spPr>
          <a:xfrm>
            <a:off x="7674864" y="4501804"/>
            <a:ext cx="8910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CHW Name 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3"/>
          <p:cNvSpPr/>
          <p:nvPr/>
        </p:nvSpPr>
        <p:spPr>
          <a:xfrm>
            <a:off x="7674864" y="4684684"/>
            <a:ext cx="89100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Transport · SDOH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3"/>
          <p:cNvSpPr/>
          <p:nvPr/>
        </p:nvSpPr>
        <p:spPr>
          <a:xfrm>
            <a:off x="7674864" y="4849276"/>
            <a:ext cx="891008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⭐ 4.7  ·  5 yrs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3"/>
          <p:cNvSpPr/>
          <p:nvPr/>
        </p:nvSpPr>
        <p:spPr>
          <a:xfrm>
            <a:off x="8511009" y="4629820"/>
            <a:ext cx="713232" cy="237744"/>
          </a:xfrm>
          <a:prstGeom prst="roundRect">
            <a:avLst>
              <a:gd fmla="val 19231" name="adj"/>
            </a:avLst>
          </a:prstGeom>
          <a:solidFill>
            <a:srgbClr val="00B050"/>
          </a:solidFill>
          <a:ln cap="flat" cmpd="sng" w="127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3"/>
          <p:cNvSpPr/>
          <p:nvPr/>
        </p:nvSpPr>
        <p:spPr>
          <a:xfrm>
            <a:off x="8511009" y="4629820"/>
            <a:ext cx="71323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Schedule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3"/>
          <p:cNvSpPr/>
          <p:nvPr/>
        </p:nvSpPr>
        <p:spPr>
          <a:xfrm>
            <a:off x="7181088" y="5160172"/>
            <a:ext cx="2152880" cy="62179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3"/>
          <p:cNvSpPr/>
          <p:nvPr/>
        </p:nvSpPr>
        <p:spPr>
          <a:xfrm>
            <a:off x="7235952" y="5251612"/>
            <a:ext cx="384048" cy="384048"/>
          </a:xfrm>
          <a:prstGeom prst="ellipse">
            <a:avLst/>
          </a:prstGeom>
          <a:solidFill>
            <a:srgbClr val="00B050"/>
          </a:solidFill>
          <a:ln cap="flat" cmpd="sng" w="127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3"/>
          <p:cNvSpPr/>
          <p:nvPr/>
        </p:nvSpPr>
        <p:spPr>
          <a:xfrm>
            <a:off x="7235952" y="525161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C3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3"/>
          <p:cNvSpPr/>
          <p:nvPr/>
        </p:nvSpPr>
        <p:spPr>
          <a:xfrm>
            <a:off x="7674864" y="5215036"/>
            <a:ext cx="8910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CHW Name 3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3"/>
          <p:cNvSpPr/>
          <p:nvPr/>
        </p:nvSpPr>
        <p:spPr>
          <a:xfrm>
            <a:off x="7674864" y="5397916"/>
            <a:ext cx="89100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Mental Health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3"/>
          <p:cNvSpPr/>
          <p:nvPr/>
        </p:nvSpPr>
        <p:spPr>
          <a:xfrm>
            <a:off x="7674864" y="5562508"/>
            <a:ext cx="891008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⭐ 4.9  ·  7 yrs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3"/>
          <p:cNvSpPr/>
          <p:nvPr/>
        </p:nvSpPr>
        <p:spPr>
          <a:xfrm>
            <a:off x="8511009" y="5343052"/>
            <a:ext cx="713232" cy="237744"/>
          </a:xfrm>
          <a:prstGeom prst="roundRect">
            <a:avLst>
              <a:gd fmla="val 19231" name="adj"/>
            </a:avLst>
          </a:prstGeom>
          <a:solidFill>
            <a:srgbClr val="00B050"/>
          </a:solidFill>
          <a:ln cap="flat" cmpd="sng" w="127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3"/>
          <p:cNvSpPr/>
          <p:nvPr/>
        </p:nvSpPr>
        <p:spPr>
          <a:xfrm>
            <a:off x="8511009" y="5343052"/>
            <a:ext cx="71323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Schedule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3"/>
          <p:cNvSpPr/>
          <p:nvPr/>
        </p:nvSpPr>
        <p:spPr>
          <a:xfrm>
            <a:off x="6766560" y="7013873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CHW Matching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3"/>
          <p:cNvSpPr/>
          <p:nvPr/>
        </p:nvSpPr>
        <p:spPr>
          <a:xfrm>
            <a:off x="201168" y="1097280"/>
            <a:ext cx="1280160" cy="36576"/>
          </a:xfrm>
          <a:prstGeom prst="rect">
            <a:avLst/>
          </a:prstGeom>
          <a:solidFill>
            <a:srgbClr val="00B050"/>
          </a:solidFill>
          <a:ln cap="flat" cmpd="sng" w="127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3"/>
          <p:cNvSpPr/>
          <p:nvPr/>
        </p:nvSpPr>
        <p:spPr>
          <a:xfrm>
            <a:off x="201168" y="1179576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Hello User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3"/>
          <p:cNvSpPr/>
          <p:nvPr/>
        </p:nvSpPr>
        <p:spPr>
          <a:xfrm>
            <a:off x="201168" y="1481328"/>
            <a:ext cx="12801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Personalized greeting &amp; CHW recommendations on login.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3"/>
          <p:cNvSpPr/>
          <p:nvPr/>
        </p:nvSpPr>
        <p:spPr>
          <a:xfrm>
            <a:off x="201168" y="2194560"/>
            <a:ext cx="1280160" cy="36576"/>
          </a:xfrm>
          <a:prstGeom prst="rect">
            <a:avLst/>
          </a:prstGeom>
          <a:solidFill>
            <a:srgbClr val="00B050"/>
          </a:solidFill>
          <a:ln cap="flat" cmpd="sng" w="127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3"/>
          <p:cNvSpPr/>
          <p:nvPr/>
        </p:nvSpPr>
        <p:spPr>
          <a:xfrm>
            <a:off x="201168" y="2276856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Did You Know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3"/>
          <p:cNvSpPr/>
          <p:nvPr/>
        </p:nvSpPr>
        <p:spPr>
          <a:xfrm>
            <a:off x="201168" y="2578608"/>
            <a:ext cx="12801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Insurance insights surfaced based on your plan.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3"/>
          <p:cNvSpPr/>
          <p:nvPr/>
        </p:nvSpPr>
        <p:spPr>
          <a:xfrm>
            <a:off x="201168" y="3291840"/>
            <a:ext cx="1280160" cy="36576"/>
          </a:xfrm>
          <a:prstGeom prst="rect">
            <a:avLst/>
          </a:prstGeom>
          <a:solidFill>
            <a:srgbClr val="00B050"/>
          </a:solidFill>
          <a:ln cap="flat" cmpd="sng" w="127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3"/>
          <p:cNvSpPr/>
          <p:nvPr/>
        </p:nvSpPr>
        <p:spPr>
          <a:xfrm>
            <a:off x="201168" y="3374136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Resources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3"/>
          <p:cNvSpPr/>
          <p:nvPr/>
        </p:nvSpPr>
        <p:spPr>
          <a:xfrm>
            <a:off x="201168" y="3675888"/>
            <a:ext cx="12801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Local housing, food, transport &amp; healthcare map.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3"/>
          <p:cNvSpPr/>
          <p:nvPr/>
        </p:nvSpPr>
        <p:spPr>
          <a:xfrm>
            <a:off x="10515600" y="1097280"/>
            <a:ext cx="1508760" cy="36576"/>
          </a:xfrm>
          <a:prstGeom prst="rect">
            <a:avLst/>
          </a:prstGeom>
          <a:solidFill>
            <a:srgbClr val="00B050"/>
          </a:solidFill>
          <a:ln cap="flat" cmpd="sng" w="127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3"/>
          <p:cNvSpPr/>
          <p:nvPr/>
        </p:nvSpPr>
        <p:spPr>
          <a:xfrm>
            <a:off x="10515600" y="1179576"/>
            <a:ext cx="1508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CHW Profiles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3"/>
          <p:cNvSpPr/>
          <p:nvPr/>
        </p:nvSpPr>
        <p:spPr>
          <a:xfrm>
            <a:off x="10515600" y="1481328"/>
            <a:ext cx="15087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Browse CHWs with ratings, specializations &amp; availability.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3"/>
          <p:cNvSpPr/>
          <p:nvPr/>
        </p:nvSpPr>
        <p:spPr>
          <a:xfrm>
            <a:off x="10515600" y="2194560"/>
            <a:ext cx="1508760" cy="36576"/>
          </a:xfrm>
          <a:prstGeom prst="rect">
            <a:avLst/>
          </a:prstGeom>
          <a:solidFill>
            <a:srgbClr val="00B050"/>
          </a:solidFill>
          <a:ln cap="flat" cmpd="sng" w="127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3"/>
          <p:cNvSpPr/>
          <p:nvPr/>
        </p:nvSpPr>
        <p:spPr>
          <a:xfrm>
            <a:off x="10515600" y="2276856"/>
            <a:ext cx="1508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Smart Matching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3"/>
          <p:cNvSpPr/>
          <p:nvPr/>
        </p:nvSpPr>
        <p:spPr>
          <a:xfrm>
            <a:off x="10515600" y="2578608"/>
            <a:ext cx="15087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Algorithm matches member needs to CHW expertise.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3"/>
          <p:cNvSpPr/>
          <p:nvPr/>
        </p:nvSpPr>
        <p:spPr>
          <a:xfrm>
            <a:off x="10515600" y="3291840"/>
            <a:ext cx="1508760" cy="36576"/>
          </a:xfrm>
          <a:prstGeom prst="rect">
            <a:avLst/>
          </a:prstGeom>
          <a:solidFill>
            <a:srgbClr val="00B050"/>
          </a:solidFill>
          <a:ln cap="flat" cmpd="sng" w="127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3"/>
          <p:cNvSpPr/>
          <p:nvPr/>
        </p:nvSpPr>
        <p:spPr>
          <a:xfrm>
            <a:off x="10515600" y="3374136"/>
            <a:ext cx="1508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Schedule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3"/>
          <p:cNvSpPr/>
          <p:nvPr/>
        </p:nvSpPr>
        <p:spPr>
          <a:xfrm>
            <a:off x="10515600" y="3675888"/>
            <a:ext cx="15087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Member books directly or CHW proactively reaches out.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3"/>
          <p:cNvSpPr/>
          <p:nvPr/>
        </p:nvSpPr>
        <p:spPr>
          <a:xfrm>
            <a:off x="10515600" y="4389120"/>
            <a:ext cx="1508760" cy="36576"/>
          </a:xfrm>
          <a:prstGeom prst="rect">
            <a:avLst/>
          </a:prstGeom>
          <a:solidFill>
            <a:srgbClr val="00B050"/>
          </a:solidFill>
          <a:ln cap="flat" cmpd="sng" w="127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3"/>
          <p:cNvSpPr/>
          <p:nvPr/>
        </p:nvSpPr>
        <p:spPr>
          <a:xfrm>
            <a:off x="10515600" y="4471416"/>
            <a:ext cx="1508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Local Map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3"/>
          <p:cNvSpPr/>
          <p:nvPr/>
        </p:nvSpPr>
        <p:spPr>
          <a:xfrm>
            <a:off x="10515600" y="4773168"/>
            <a:ext cx="15087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Phase 2: Compass-approved resource map.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3"/>
          <p:cNvSpPr/>
          <p:nvPr/>
        </p:nvSpPr>
        <p:spPr>
          <a:xfrm>
            <a:off x="2821456" y="2143736"/>
            <a:ext cx="22626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Rewards Earned: $43.82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BF8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4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00B050"/>
          </a:solidFill>
          <a:ln cap="flat" cmpd="sng" w="127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4"/>
          <p:cNvSpPr/>
          <p:nvPr/>
        </p:nvSpPr>
        <p:spPr>
          <a:xfrm>
            <a:off x="365760" y="0"/>
            <a:ext cx="5486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lang="en-US" sz="3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Compass RoadMap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4"/>
          <p:cNvSpPr/>
          <p:nvPr/>
        </p:nvSpPr>
        <p:spPr>
          <a:xfrm>
            <a:off x="8229600" y="0"/>
            <a:ext cx="3840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0F0D0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D0F0D0"/>
                </a:solidFill>
                <a:latin typeface="Calibri"/>
                <a:ea typeface="Calibri"/>
                <a:cs typeface="Calibri"/>
                <a:sym typeface="Calibri"/>
              </a:rPr>
              <a:t>Goal Tracking &amp; Progress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0" name="Google Shape;220;p4"/>
          <p:cNvPicPr preferRelativeResize="0"/>
          <p:nvPr/>
        </p:nvPicPr>
        <p:blipFill rotWithShape="1">
          <a:blip r:embed="rId3">
            <a:alphaModFix/>
          </a:blip>
          <a:srcRect b="12663" l="17130" r="0" t="2216"/>
          <a:stretch/>
        </p:blipFill>
        <p:spPr>
          <a:xfrm>
            <a:off x="4176215" y="877315"/>
            <a:ext cx="3705913" cy="5468112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4"/>
          <p:cNvSpPr/>
          <p:nvPr/>
        </p:nvSpPr>
        <p:spPr>
          <a:xfrm>
            <a:off x="4934924" y="1271016"/>
            <a:ext cx="2322151" cy="46857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4"/>
          <p:cNvSpPr/>
          <p:nvPr/>
        </p:nvSpPr>
        <p:spPr>
          <a:xfrm>
            <a:off x="4934924" y="1271016"/>
            <a:ext cx="2322151" cy="749723"/>
          </a:xfrm>
          <a:prstGeom prst="rect">
            <a:avLst/>
          </a:prstGeom>
          <a:solidFill>
            <a:srgbClr val="00B050"/>
          </a:solidFill>
          <a:ln cap="flat" cmpd="sng" w="127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4"/>
          <p:cNvSpPr/>
          <p:nvPr/>
        </p:nvSpPr>
        <p:spPr>
          <a:xfrm>
            <a:off x="4934924" y="1316736"/>
            <a:ext cx="2322151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My Roadmap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4"/>
          <p:cNvSpPr/>
          <p:nvPr/>
        </p:nvSpPr>
        <p:spPr>
          <a:xfrm>
            <a:off x="4934924" y="1591056"/>
            <a:ext cx="2322151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0F0D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D0F0D0"/>
                </a:solidFill>
                <a:latin typeface="Calibri"/>
                <a:ea typeface="Calibri"/>
                <a:cs typeface="Calibri"/>
                <a:sym typeface="Calibri"/>
              </a:rPr>
              <a:t>Track your health journey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4"/>
          <p:cNvSpPr/>
          <p:nvPr/>
        </p:nvSpPr>
        <p:spPr>
          <a:xfrm>
            <a:off x="5008076" y="2093891"/>
            <a:ext cx="2175847" cy="201168"/>
          </a:xfrm>
          <a:prstGeom prst="roundRect">
            <a:avLst>
              <a:gd fmla="val 27273" name="adj"/>
            </a:avLst>
          </a:prstGeom>
          <a:solidFill>
            <a:srgbClr val="E8F5E9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4"/>
          <p:cNvSpPr/>
          <p:nvPr/>
        </p:nvSpPr>
        <p:spPr>
          <a:xfrm>
            <a:off x="5008076" y="2093891"/>
            <a:ext cx="1305508" cy="201168"/>
          </a:xfrm>
          <a:prstGeom prst="roundRect">
            <a:avLst>
              <a:gd fmla="val 27273" name="adj"/>
            </a:avLst>
          </a:prstGeom>
          <a:solidFill>
            <a:srgbClr val="00B050"/>
          </a:solidFill>
          <a:ln cap="flat" cmpd="sng" w="127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4"/>
          <p:cNvSpPr/>
          <p:nvPr/>
        </p:nvSpPr>
        <p:spPr>
          <a:xfrm>
            <a:off x="5008076" y="2093891"/>
            <a:ext cx="2175847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60% Complete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4"/>
          <p:cNvSpPr/>
          <p:nvPr/>
        </p:nvSpPr>
        <p:spPr>
          <a:xfrm>
            <a:off x="5008076" y="2349923"/>
            <a:ext cx="2322151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Active Goals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4"/>
          <p:cNvSpPr/>
          <p:nvPr/>
        </p:nvSpPr>
        <p:spPr>
          <a:xfrm>
            <a:off x="4989788" y="2587667"/>
            <a:ext cx="2212423" cy="107899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4"/>
          <p:cNvSpPr/>
          <p:nvPr/>
        </p:nvSpPr>
        <p:spPr>
          <a:xfrm>
            <a:off x="5026364" y="2642531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🏥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4"/>
          <p:cNvSpPr/>
          <p:nvPr/>
        </p:nvSpPr>
        <p:spPr>
          <a:xfrm>
            <a:off x="5318972" y="2642531"/>
            <a:ext cx="1682071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Transportation Access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4"/>
          <p:cNvSpPr/>
          <p:nvPr/>
        </p:nvSpPr>
        <p:spPr>
          <a:xfrm>
            <a:off x="5044652" y="2916851"/>
            <a:ext cx="2047831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3 sessions completed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4"/>
          <p:cNvSpPr/>
          <p:nvPr/>
        </p:nvSpPr>
        <p:spPr>
          <a:xfrm>
            <a:off x="5044652" y="3154595"/>
            <a:ext cx="2047831" cy="182880"/>
          </a:xfrm>
          <a:prstGeom prst="roundRect">
            <a:avLst>
              <a:gd fmla="val 25000" name="adj"/>
            </a:avLst>
          </a:prstGeom>
          <a:solidFill>
            <a:srgbClr val="E8F5E9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4"/>
          <p:cNvSpPr/>
          <p:nvPr/>
        </p:nvSpPr>
        <p:spPr>
          <a:xfrm>
            <a:off x="5044652" y="3154595"/>
            <a:ext cx="1535873" cy="182880"/>
          </a:xfrm>
          <a:prstGeom prst="roundRect">
            <a:avLst>
              <a:gd fmla="val 25000" name="adj"/>
            </a:avLst>
          </a:prstGeom>
          <a:solidFill>
            <a:srgbClr val="00B050"/>
          </a:solidFill>
          <a:ln cap="flat" cmpd="sng" w="127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4"/>
          <p:cNvSpPr/>
          <p:nvPr/>
        </p:nvSpPr>
        <p:spPr>
          <a:xfrm>
            <a:off x="6639172" y="2880275"/>
            <a:ext cx="380159" cy="2468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75%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4"/>
          <p:cNvSpPr/>
          <p:nvPr/>
        </p:nvSpPr>
        <p:spPr>
          <a:xfrm>
            <a:off x="5044652" y="3410627"/>
            <a:ext cx="2047831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CHW Sessions: 2  ·  Next: Mon 2pm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4"/>
          <p:cNvSpPr/>
          <p:nvPr/>
        </p:nvSpPr>
        <p:spPr>
          <a:xfrm>
            <a:off x="4989788" y="3758099"/>
            <a:ext cx="2212423" cy="107899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4"/>
          <p:cNvSpPr/>
          <p:nvPr/>
        </p:nvSpPr>
        <p:spPr>
          <a:xfrm>
            <a:off x="5026364" y="3812963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🥗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4"/>
          <p:cNvSpPr/>
          <p:nvPr/>
        </p:nvSpPr>
        <p:spPr>
          <a:xfrm>
            <a:off x="5318972" y="3812963"/>
            <a:ext cx="1864951" cy="2473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Food Benefit &amp; Resources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4"/>
          <p:cNvSpPr/>
          <p:nvPr/>
        </p:nvSpPr>
        <p:spPr>
          <a:xfrm>
            <a:off x="5044652" y="4087283"/>
            <a:ext cx="2047831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On track — week 4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4"/>
          <p:cNvSpPr/>
          <p:nvPr/>
        </p:nvSpPr>
        <p:spPr>
          <a:xfrm>
            <a:off x="5044652" y="4325027"/>
            <a:ext cx="2047831" cy="182880"/>
          </a:xfrm>
          <a:prstGeom prst="roundRect">
            <a:avLst>
              <a:gd fmla="val 25000" name="adj"/>
            </a:avLst>
          </a:prstGeom>
          <a:solidFill>
            <a:srgbClr val="E8F5E9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4"/>
          <p:cNvSpPr/>
          <p:nvPr/>
        </p:nvSpPr>
        <p:spPr>
          <a:xfrm>
            <a:off x="5044652" y="4325027"/>
            <a:ext cx="1023915" cy="182880"/>
          </a:xfrm>
          <a:prstGeom prst="roundRect">
            <a:avLst>
              <a:gd fmla="val 25000" name="adj"/>
            </a:avLst>
          </a:prstGeom>
          <a:solidFill>
            <a:srgbClr val="00B050"/>
          </a:solidFill>
          <a:ln cap="flat" cmpd="sng" w="127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4"/>
          <p:cNvSpPr/>
          <p:nvPr/>
        </p:nvSpPr>
        <p:spPr>
          <a:xfrm>
            <a:off x="6641569" y="4060360"/>
            <a:ext cx="450914" cy="2829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50%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4"/>
          <p:cNvSpPr/>
          <p:nvPr/>
        </p:nvSpPr>
        <p:spPr>
          <a:xfrm>
            <a:off x="5044652" y="4581059"/>
            <a:ext cx="2047831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CHW Sessions: 3  ·  Next: Mon 2pm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4"/>
          <p:cNvSpPr/>
          <p:nvPr/>
        </p:nvSpPr>
        <p:spPr>
          <a:xfrm>
            <a:off x="4989788" y="4928531"/>
            <a:ext cx="2212423" cy="107899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4"/>
          <p:cNvSpPr/>
          <p:nvPr/>
        </p:nvSpPr>
        <p:spPr>
          <a:xfrm>
            <a:off x="5026364" y="4983395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🏠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4"/>
          <p:cNvSpPr/>
          <p:nvPr/>
        </p:nvSpPr>
        <p:spPr>
          <a:xfrm>
            <a:off x="5318972" y="4983395"/>
            <a:ext cx="1682071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Stable Housing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4"/>
          <p:cNvSpPr/>
          <p:nvPr/>
        </p:nvSpPr>
        <p:spPr>
          <a:xfrm>
            <a:off x="5044652" y="5257715"/>
            <a:ext cx="2047831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Application submitted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4"/>
          <p:cNvSpPr/>
          <p:nvPr/>
        </p:nvSpPr>
        <p:spPr>
          <a:xfrm>
            <a:off x="5044652" y="5495459"/>
            <a:ext cx="2047831" cy="182880"/>
          </a:xfrm>
          <a:prstGeom prst="roundRect">
            <a:avLst>
              <a:gd fmla="val 25000" name="adj"/>
            </a:avLst>
          </a:prstGeom>
          <a:solidFill>
            <a:srgbClr val="E8F5E9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4"/>
          <p:cNvSpPr/>
          <p:nvPr/>
        </p:nvSpPr>
        <p:spPr>
          <a:xfrm>
            <a:off x="5044652" y="5495459"/>
            <a:ext cx="614349" cy="182880"/>
          </a:xfrm>
          <a:prstGeom prst="roundRect">
            <a:avLst>
              <a:gd fmla="val 25000" name="adj"/>
            </a:avLst>
          </a:prstGeom>
          <a:solidFill>
            <a:srgbClr val="00B050"/>
          </a:solidFill>
          <a:ln cap="flat" cmpd="sng" w="127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4"/>
          <p:cNvSpPr/>
          <p:nvPr/>
        </p:nvSpPr>
        <p:spPr>
          <a:xfrm>
            <a:off x="6638224" y="5262270"/>
            <a:ext cx="454259" cy="1778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30%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4"/>
          <p:cNvSpPr/>
          <p:nvPr/>
        </p:nvSpPr>
        <p:spPr>
          <a:xfrm>
            <a:off x="5044652" y="5751491"/>
            <a:ext cx="2047831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CHW Sessions: 4  ·  Next: Mon 2pm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4"/>
          <p:cNvSpPr/>
          <p:nvPr/>
        </p:nvSpPr>
        <p:spPr>
          <a:xfrm>
            <a:off x="5384327" y="6345426"/>
            <a:ext cx="2322151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Timeline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4"/>
          <p:cNvSpPr/>
          <p:nvPr/>
        </p:nvSpPr>
        <p:spPr>
          <a:xfrm>
            <a:off x="5366039" y="6564882"/>
            <a:ext cx="2212423" cy="3474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4"/>
          <p:cNvSpPr/>
          <p:nvPr/>
        </p:nvSpPr>
        <p:spPr>
          <a:xfrm>
            <a:off x="5402615" y="6564882"/>
            <a:ext cx="2139271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Goal Completion: December 2025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4"/>
          <p:cNvSpPr/>
          <p:nvPr/>
        </p:nvSpPr>
        <p:spPr>
          <a:xfrm>
            <a:off x="274320" y="1188720"/>
            <a:ext cx="3566160" cy="36576"/>
          </a:xfrm>
          <a:prstGeom prst="rect">
            <a:avLst/>
          </a:prstGeom>
          <a:solidFill>
            <a:srgbClr val="00B050"/>
          </a:solidFill>
          <a:ln cap="flat" cmpd="sng" w="127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4"/>
          <p:cNvSpPr/>
          <p:nvPr/>
        </p:nvSpPr>
        <p:spPr>
          <a:xfrm>
            <a:off x="274320" y="1271016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Goal Selection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4"/>
          <p:cNvSpPr/>
          <p:nvPr/>
        </p:nvSpPr>
        <p:spPr>
          <a:xfrm>
            <a:off x="274320" y="1572768"/>
            <a:ext cx="35661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Member selects health goals — each prompts targeted questions about anticipated outcomes and timeline.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4"/>
          <p:cNvSpPr/>
          <p:nvPr/>
        </p:nvSpPr>
        <p:spPr>
          <a:xfrm>
            <a:off x="274320" y="2423160"/>
            <a:ext cx="3566160" cy="36576"/>
          </a:xfrm>
          <a:prstGeom prst="rect">
            <a:avLst/>
          </a:prstGeom>
          <a:solidFill>
            <a:srgbClr val="00B050"/>
          </a:solidFill>
          <a:ln cap="flat" cmpd="sng" w="127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4"/>
          <p:cNvSpPr/>
          <p:nvPr/>
        </p:nvSpPr>
        <p:spPr>
          <a:xfrm>
            <a:off x="274320" y="2505456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CHW Collaboration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4"/>
          <p:cNvSpPr/>
          <p:nvPr/>
        </p:nvSpPr>
        <p:spPr>
          <a:xfrm>
            <a:off x="274320" y="2807208"/>
            <a:ext cx="35661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Customer and CHW co-create the roadmap — translating needs into measurable results with timelines.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4"/>
          <p:cNvSpPr/>
          <p:nvPr/>
        </p:nvSpPr>
        <p:spPr>
          <a:xfrm>
            <a:off x="274320" y="3657600"/>
            <a:ext cx="3566160" cy="36576"/>
          </a:xfrm>
          <a:prstGeom prst="rect">
            <a:avLst/>
          </a:prstGeom>
          <a:solidFill>
            <a:srgbClr val="00B050"/>
          </a:solidFill>
          <a:ln cap="flat" cmpd="sng" w="127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4"/>
          <p:cNvSpPr/>
          <p:nvPr/>
        </p:nvSpPr>
        <p:spPr>
          <a:xfrm>
            <a:off x="274320" y="3739896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Session Tracking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4"/>
          <p:cNvSpPr/>
          <p:nvPr/>
        </p:nvSpPr>
        <p:spPr>
          <a:xfrm>
            <a:off x="274320" y="4041648"/>
            <a:ext cx="35661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All sessions, CHW interactions, and resource referrals are logged in one place.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4"/>
          <p:cNvSpPr/>
          <p:nvPr/>
        </p:nvSpPr>
        <p:spPr>
          <a:xfrm>
            <a:off x="8366760" y="1188720"/>
            <a:ext cx="3566160" cy="36576"/>
          </a:xfrm>
          <a:prstGeom prst="rect">
            <a:avLst/>
          </a:prstGeom>
          <a:solidFill>
            <a:srgbClr val="00B050"/>
          </a:solidFill>
          <a:ln cap="flat" cmpd="sng" w="127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4"/>
          <p:cNvSpPr/>
          <p:nvPr/>
        </p:nvSpPr>
        <p:spPr>
          <a:xfrm>
            <a:off x="8366760" y="1271016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Progress Meter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4"/>
          <p:cNvSpPr/>
          <p:nvPr/>
        </p:nvSpPr>
        <p:spPr>
          <a:xfrm>
            <a:off x="8366760" y="1572768"/>
            <a:ext cx="35661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Adjustable progress bar per goal — updates in real time as milestones are reached.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4"/>
          <p:cNvSpPr/>
          <p:nvPr/>
        </p:nvSpPr>
        <p:spPr>
          <a:xfrm>
            <a:off x="8366760" y="2423160"/>
            <a:ext cx="3566160" cy="36576"/>
          </a:xfrm>
          <a:prstGeom prst="rect">
            <a:avLst/>
          </a:prstGeom>
          <a:solidFill>
            <a:srgbClr val="00B050"/>
          </a:solidFill>
          <a:ln cap="flat" cmpd="sng" w="127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4"/>
          <p:cNvSpPr/>
          <p:nvPr/>
        </p:nvSpPr>
        <p:spPr>
          <a:xfrm>
            <a:off x="8366760" y="2505456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Goal Icons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4"/>
          <p:cNvSpPr/>
          <p:nvPr/>
        </p:nvSpPr>
        <p:spPr>
          <a:xfrm>
            <a:off x="8366760" y="2807208"/>
            <a:ext cx="35661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Each category (Housing, Food, Healthcare, Social) has a distinct icon and fillable progress chart.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4"/>
          <p:cNvSpPr/>
          <p:nvPr/>
        </p:nvSpPr>
        <p:spPr>
          <a:xfrm>
            <a:off x="8366760" y="3657600"/>
            <a:ext cx="3566160" cy="36576"/>
          </a:xfrm>
          <a:prstGeom prst="rect">
            <a:avLst/>
          </a:prstGeom>
          <a:solidFill>
            <a:srgbClr val="00B050"/>
          </a:solidFill>
          <a:ln cap="flat" cmpd="sng" w="127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4"/>
          <p:cNvSpPr/>
          <p:nvPr/>
        </p:nvSpPr>
        <p:spPr>
          <a:xfrm>
            <a:off x="8366760" y="3739896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Timeline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4"/>
          <p:cNvSpPr/>
          <p:nvPr/>
        </p:nvSpPr>
        <p:spPr>
          <a:xfrm>
            <a:off x="8366760" y="4041648"/>
            <a:ext cx="35661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Term bar sets the expected completion window — adjustable as needs evolve.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4"/>
          <p:cNvSpPr/>
          <p:nvPr/>
        </p:nvSpPr>
        <p:spPr>
          <a:xfrm>
            <a:off x="0" y="6291072"/>
            <a:ext cx="12192000" cy="566928"/>
          </a:xfrm>
          <a:prstGeom prst="rect">
            <a:avLst/>
          </a:prstGeom>
          <a:solidFill>
            <a:srgbClr val="0A1F0D"/>
          </a:solidFill>
          <a:ln cap="flat" cmpd="sng" w="12700">
            <a:solidFill>
              <a:srgbClr val="0A1F0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4"/>
          <p:cNvSpPr/>
          <p:nvPr/>
        </p:nvSpPr>
        <p:spPr>
          <a:xfrm>
            <a:off x="457200" y="6291072"/>
            <a:ext cx="2743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EE90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90EE90"/>
                </a:solidFill>
                <a:latin typeface="Calibri"/>
                <a:ea typeface="Calibri"/>
                <a:cs typeface="Calibri"/>
                <a:sym typeface="Calibri"/>
              </a:rPr>
              <a:t>Categories  ·  Goals Tracked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4"/>
          <p:cNvSpPr/>
          <p:nvPr/>
        </p:nvSpPr>
        <p:spPr>
          <a:xfrm>
            <a:off x="3383280" y="6291072"/>
            <a:ext cx="2743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EE9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90EE90"/>
                </a:solidFill>
                <a:latin typeface="Calibri"/>
                <a:ea typeface="Calibri"/>
                <a:cs typeface="Calibri"/>
                <a:sym typeface="Calibri"/>
              </a:rPr>
              <a:t>All CHW Visits  ·  Session Logs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4"/>
          <p:cNvSpPr/>
          <p:nvPr/>
        </p:nvSpPr>
        <p:spPr>
          <a:xfrm>
            <a:off x="6309360" y="6291072"/>
            <a:ext cx="2743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EE9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90EE90"/>
                </a:solidFill>
                <a:latin typeface="Calibri"/>
                <a:ea typeface="Calibri"/>
                <a:cs typeface="Calibri"/>
                <a:sym typeface="Calibri"/>
              </a:rPr>
              <a:t>Real-Time  ·  Progress View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4"/>
          <p:cNvSpPr/>
          <p:nvPr/>
        </p:nvSpPr>
        <p:spPr>
          <a:xfrm>
            <a:off x="9235440" y="6291072"/>
            <a:ext cx="2743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EE9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90EE90"/>
                </a:solidFill>
                <a:latin typeface="Calibri"/>
                <a:ea typeface="Calibri"/>
                <a:cs typeface="Calibri"/>
                <a:sym typeface="Calibri"/>
              </a:rPr>
              <a:t>Adjustable  ·  Timeline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2026-04-01T16:51:18Z</dcterms:created>
  <dc:creator>PptxGenJS</dc:creator>
</cp:coreProperties>
</file>